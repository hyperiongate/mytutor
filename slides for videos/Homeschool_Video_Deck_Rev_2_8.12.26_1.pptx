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9"/>
  </p:notesMasterIdLst>
  <p:sldIdLst>
    <p:sldId id="262" r:id="rId2"/>
    <p:sldId id="257" r:id="rId3"/>
    <p:sldId id="264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72" y="304"/>
      </p:cViewPr>
      <p:guideLst/>
    </p:cSldViewPr>
  </p:slideViewPr>
  <p:notesTextViewPr>
    <p:cViewPr>
      <p:scale>
        <a:sx n="1" d="1"/>
        <a:sy n="1" d="1"/>
      </p:scale>
      <p:origin x="0" y="-2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609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Homeschooling math is a big job. Mr. Cadabra is a patient, personal math tutor — and while he teaches, he keeps your homeschool records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C6FF55-0CF1-A6A8-E2B2-976F1751BCB5}"/>
              </a:ext>
            </a:extLst>
          </p:cNvPr>
          <p:cNvSpPr txBox="1"/>
          <p:nvPr/>
        </p:nvSpPr>
        <p:spPr>
          <a:xfrm>
            <a:off x="1176689" y="-10193609"/>
            <a:ext cx="2642134" cy="294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1 — See your whole class at a glance.**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 you teach math to more than one student — a co-op, a microschool, or a classroom — here's what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Mr.Cadabra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looks like from the front of the room.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2 — Every student, tutored one-on-one.**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Every student in your class gets the same patient one-on-one tutor, working at their own placed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level. That means intervention without stigma — a ninth grader can quietly rebuild fractions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without ever seeing a grade level on screen.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3 — The mastery heatmap.**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This is your classroom view: the mastery heatmap. Every cell is a student's best real check score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on a unit — gold stars mean mastered. And "needs attention" names the unit your whole class is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weakest on, so you know exactly what to reteach.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4 — Drill into any student.**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Click any name and you get that student's full dashboard — their units, their accuracy, their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streak, and honest time-on-task where idle minutes never count. It's the picture you'd build by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hand, already built.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5 — Built for real classrooms.**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It's built for the realities of a classroom. You add students by code — no student emails, no new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personal data. There are no microphones to manage; headphones are all you need. And the built-in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course assessment maps each student's strengths for you.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**Slide 6 — Pilot it free this term.**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We're partnering with a limited number of classrooms this term: you get </a:t>
            </a:r>
            <a:r>
              <a:rPr kumimoji="0" lang="en-US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Mr.Cadabra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free for the pilot,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we get your honest feedback. Email support@mrcadabra.com and tell us about your class.</a:t>
            </a:r>
            <a:b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kumimoji="0" lang="en-US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teaches every lesson out loud, step by step, and listens as your student answers — ten complete courses, from Entry-Level Math through Differential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E29E1-A55C-71F3-2C87-9B994F40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8ECEA-25E3-ABE2-4DE4-E4B133E80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F5C8A-A112-C707-AB6C-E970792C7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placement test finds where your student starts, and real exams verify when they're ready to move 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EC48F-49E8-A431-7D31-0F8458476B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4062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read-only parent view shows what's mastered, what needs work, and where to help next. You're still the teacher — you set the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Instructional hours log themselves. A minute counts only when your student is actually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hours log, a printable course plan, and real mastery evidence — your records, ready whenever you need to show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the first lesson free — no credit card needed — at mrcadabra.com/homeschool.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238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501" y="1086861"/>
            <a:ext cx="7929000" cy="2228288"/>
          </a:xfrm>
        </p:spPr>
        <p:txBody>
          <a:bodyPr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7501" y="3960635"/>
            <a:ext cx="7929000" cy="32623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3957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7380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9144000" cy="3902869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2213547"/>
            <a:ext cx="7921064" cy="1101600"/>
          </a:xfrm>
        </p:spPr>
        <p:txBody>
          <a:bodyPr anchor="b"/>
          <a:lstStyle>
            <a:lvl1pPr algn="r">
              <a:defRPr sz="36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3960901"/>
            <a:ext cx="7921064" cy="325466"/>
          </a:xfrm>
        </p:spPr>
        <p:txBody>
          <a:bodyPr anchor="t">
            <a:no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49113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034" y="1666716"/>
            <a:ext cx="3889405" cy="27290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62" y="1666715"/>
            <a:ext cx="3895937" cy="272907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617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046" y="1631156"/>
            <a:ext cx="3892393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47" y="2063354"/>
            <a:ext cx="3892392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62" y="1631156"/>
            <a:ext cx="3895937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62" y="2063354"/>
            <a:ext cx="3895937" cy="233243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7579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8961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5992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4" y="334566"/>
            <a:ext cx="2660650" cy="13609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4" y="334566"/>
            <a:ext cx="2660650" cy="1213797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334567"/>
            <a:ext cx="4689475" cy="4061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4" y="1695554"/>
            <a:ext cx="2660650" cy="270023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9990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046" y="545642"/>
            <a:ext cx="3639741" cy="121287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51435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046" y="1758513"/>
            <a:ext cx="3639741" cy="2637274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8" y="4531022"/>
            <a:ext cx="732659" cy="273844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4531022"/>
            <a:ext cx="247156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4436917"/>
            <a:ext cx="796616" cy="36794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16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600450"/>
            <a:ext cx="792106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360045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500" y="4025504"/>
            <a:ext cx="7921064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4981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73773" y="811092"/>
            <a:ext cx="4749312" cy="242939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239" y="928877"/>
            <a:ext cx="4420380" cy="1984434"/>
          </a:xfrm>
        </p:spPr>
        <p:txBody>
          <a:bodyPr anchor="b"/>
          <a:lstStyle>
            <a:lvl1pPr algn="l">
              <a:defRPr sz="315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9893" y="3332760"/>
            <a:ext cx="4418727" cy="534931"/>
          </a:xfrm>
        </p:spPr>
        <p:txBody>
          <a:bodyPr anchor="t">
            <a:no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680982" y="811092"/>
            <a:ext cx="2857501" cy="3056599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315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4" y="1714939"/>
            <a:ext cx="3671336" cy="1877979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7" y="1826968"/>
            <a:ext cx="3286891" cy="1505842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7000" y="1714500"/>
            <a:ext cx="3660225" cy="172164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290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9519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9" y="334567"/>
            <a:ext cx="3391762" cy="406122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6" y="439628"/>
            <a:ext cx="1871093" cy="3851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7501" y="334567"/>
            <a:ext cx="4958655" cy="406122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056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792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500" y="1638301"/>
            <a:ext cx="7922464" cy="275579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636" y="4531022"/>
            <a:ext cx="648324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00969" y="4531022"/>
            <a:ext cx="100778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8/6/2026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749" y="4436917"/>
            <a:ext cx="796616" cy="36794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191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27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Font typeface="Wingdings 2" charset="2"/>
        <a:buChar char="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1044" y="2342533"/>
            <a:ext cx="8418064" cy="1055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2419" y="338213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lang="en-US" sz="2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Patient, adaptive math tutoring with automatic homeschool records.</a:t>
            </a:r>
          </a:p>
        </p:txBody>
      </p:sp>
      <p:sp>
        <p:nvSpPr>
          <p:cNvPr id="6" name="Text 3"/>
          <p:cNvSpPr/>
          <p:nvPr/>
        </p:nvSpPr>
        <p:spPr>
          <a:xfrm>
            <a:off x="591729" y="4291161"/>
            <a:ext cx="31141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8F5F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Century Gothic" panose="020B050202020202020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E000F1E-381C-5B1D-E90B-DA0B6CD77C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404037" y="297180"/>
            <a:ext cx="2542746" cy="2017208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E98C91B-B4D6-1540-239E-BC221D84CD0E}"/>
              </a:ext>
            </a:extLst>
          </p:cNvPr>
          <p:cNvSpPr/>
          <p:nvPr/>
        </p:nvSpPr>
        <p:spPr>
          <a:xfrm>
            <a:off x="2694105" y="578698"/>
            <a:ext cx="5243514" cy="355113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50EA3-1D45-A771-3EBF-C45C9FEDAB5B}"/>
              </a:ext>
            </a:extLst>
          </p:cNvPr>
          <p:cNvSpPr txBox="1"/>
          <p:nvPr/>
        </p:nvSpPr>
        <p:spPr>
          <a:xfrm>
            <a:off x="2827930" y="571588"/>
            <a:ext cx="481252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en-US" sz="1800" b="1" i="0" u="none" strike="noStrike" kern="0" cap="none" spc="30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800" b="1" i="0" u="none" strike="noStrike" kern="0" cap="none" spc="30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</a:t>
            </a:r>
            <a:r>
              <a:rPr kumimoji="0" lang="en-US" sz="1600" b="1" i="0" u="none" strike="noStrike" kern="0" cap="none" spc="300" normalizeH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kern="0" spc="300" dirty="0">
                <a:solidFill>
                  <a:srgbClr val="4472C4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HOMESCHOOL FAMILIES </a:t>
            </a:r>
            <a:r>
              <a:rPr lang="en-US" b="1" kern="0" spc="3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endParaRPr lang="en-US" b="1" kern="0" spc="300" dirty="0">
              <a:solidFill>
                <a:schemeClr val="accent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1201184-8A2A-1D2C-71C4-B6FBC308DD0F}"/>
              </a:ext>
            </a:extLst>
          </p:cNvPr>
          <p:cNvSpPr/>
          <p:nvPr/>
        </p:nvSpPr>
        <p:spPr>
          <a:xfrm>
            <a:off x="4869366" y="1028700"/>
            <a:ext cx="36345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D823D-1C27-6595-43C0-EFBCD2BC111F}"/>
              </a:ext>
            </a:extLst>
          </p:cNvPr>
          <p:cNvSpPr txBox="1"/>
          <p:nvPr/>
        </p:nvSpPr>
        <p:spPr>
          <a:xfrm>
            <a:off x="591729" y="2618699"/>
            <a:ext cx="81789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child's personal math tutor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E3BB10-3B78-DCDE-AEFD-1AE955D0B2AB}"/>
              </a:ext>
            </a:extLst>
          </p:cNvPr>
          <p:cNvSpPr txBox="1"/>
          <p:nvPr/>
        </p:nvSpPr>
        <p:spPr>
          <a:xfrm>
            <a:off x="777194" y="2121226"/>
            <a:ext cx="2050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</a:rPr>
              <a:t>— </a:t>
            </a:r>
            <a:r>
              <a:rPr lang="en-US" sz="1200" dirty="0"/>
              <a:t>  </a:t>
            </a:r>
            <a:r>
              <a:rPr lang="en-US" sz="1200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AI-Powered Tutor  </a:t>
            </a:r>
            <a:r>
              <a:rPr lang="en-US" sz="1200" dirty="0">
                <a:solidFill>
                  <a:schemeClr val="accent4"/>
                </a:solidFill>
              </a:rPr>
              <a:t>—</a:t>
            </a:r>
            <a:endParaRPr lang="en-US" sz="1200" dirty="0">
              <a:solidFill>
                <a:schemeClr val="accent4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5" grpId="0" animBg="1"/>
      <p:bldP spid="16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le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564" y="1105813"/>
            <a:ext cx="4608237" cy="3124229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02920" y="806233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teaches out loud, step by step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02921" y="2366360"/>
            <a:ext cx="3369472" cy="1615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Mr.Cadabra</a:t>
            </a: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talks your student through every problem, draws every step, and listens as they answer out loud.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600" dirty="0">
              <a:solidFill>
                <a:srgbClr val="5B60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complete courses, from Entry-Level Math through Differential Equations.</a:t>
            </a:r>
            <a:endParaRPr lang="en-US" sz="1600" dirty="0"/>
          </a:p>
        </p:txBody>
      </p:sp>
      <p:pic>
        <p:nvPicPr>
          <p:cNvPr id="6" name="Graphic 5" descr="Teacher">
            <a:extLst>
              <a:ext uri="{FF2B5EF4-FFF2-40B4-BE49-F238E27FC236}">
                <a16:creationId xmlns:a16="http://schemas.microsoft.com/office/drawing/2014/main" id="{4AD8385C-AE52-71E8-C0EA-CC28C5E0B3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3629" y="1449565"/>
            <a:ext cx="914400" cy="914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EEE726-56A1-4FC3-DF4D-CBE2532717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848" t="15580" r="26459" b="27667"/>
          <a:stretch>
            <a:fillRect/>
          </a:stretch>
        </p:blipFill>
        <p:spPr>
          <a:xfrm>
            <a:off x="7833939" y="4337267"/>
            <a:ext cx="852862" cy="676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A0761-5FDD-EDE8-6C15-A6DB3340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648092D6-41A6-370E-BA49-8B2AEFC57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56" y="658461"/>
            <a:ext cx="6976942" cy="382657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78F70E6-B5E3-1416-6F95-8FF4B436EF89}"/>
              </a:ext>
            </a:extLst>
          </p:cNvPr>
          <p:cNvSpPr/>
          <p:nvPr/>
        </p:nvSpPr>
        <p:spPr>
          <a:xfrm>
            <a:off x="907494" y="737872"/>
            <a:ext cx="1927297" cy="8160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/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00C6BB">
                    <a:lumMod val="75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396F9B3-0869-8A41-2ADB-5DF3E9221529}"/>
              </a:ext>
            </a:extLst>
          </p:cNvPr>
          <p:cNvSpPr/>
          <p:nvPr/>
        </p:nvSpPr>
        <p:spPr>
          <a:xfrm>
            <a:off x="907494" y="2160870"/>
            <a:ext cx="4346559" cy="850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placement test finds where your student starts.</a:t>
            </a:r>
          </a:p>
          <a:p>
            <a:endParaRPr lang="en-US" dirty="0">
              <a:solidFill>
                <a:schemeClr val="bg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3F860D1-583E-106C-CF9B-F8E9FDA49E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848" t="15580" r="26459" b="27667"/>
          <a:stretch>
            <a:fillRect/>
          </a:stretch>
        </p:blipFill>
        <p:spPr>
          <a:xfrm>
            <a:off x="7820970" y="4323551"/>
            <a:ext cx="869854" cy="69007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EFF4A49-F492-AD7F-F50E-F2AB1CDBAC1C}"/>
              </a:ext>
            </a:extLst>
          </p:cNvPr>
          <p:cNvSpPr txBox="1"/>
          <p:nvPr/>
        </p:nvSpPr>
        <p:spPr>
          <a:xfrm>
            <a:off x="907493" y="3104152"/>
            <a:ext cx="424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Periodic exams verify when they're ready to move on.</a:t>
            </a:r>
          </a:p>
        </p:txBody>
      </p:sp>
    </p:spTree>
    <p:extLst>
      <p:ext uri="{BB962C8B-B14F-4D97-AF65-F5344CB8AC3E}">
        <p14:creationId xmlns:p14="http://schemas.microsoft.com/office/powerpoint/2010/main" val="294957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static/shots/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68" y="1129200"/>
            <a:ext cx="4480560" cy="2885100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4981247" y="970246"/>
            <a:ext cx="264618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progress without hovering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114692" y="2749172"/>
            <a:ext cx="3354287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read-only parent view shows what's mastered, what needs work, and exactly where to help next — updated after every lesson. A weekly email keeps you posted, and you can steer the pace anytime.</a:t>
            </a:r>
          </a:p>
        </p:txBody>
      </p:sp>
      <p:pic>
        <p:nvPicPr>
          <p:cNvPr id="6" name="Graphic 5" descr="Gauge">
            <a:extLst>
              <a:ext uri="{FF2B5EF4-FFF2-40B4-BE49-F238E27FC236}">
                <a16:creationId xmlns:a16="http://schemas.microsoft.com/office/drawing/2014/main" id="{EB22BBF6-0D3C-9536-BB84-E03F99D91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61715" y="1610326"/>
            <a:ext cx="1070519" cy="10705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41A199-73E4-E606-D49C-567ABB7EB1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848" t="15580" r="26459" b="27667"/>
          <a:stretch>
            <a:fillRect/>
          </a:stretch>
        </p:blipFill>
        <p:spPr>
          <a:xfrm>
            <a:off x="7818428" y="4264303"/>
            <a:ext cx="867476" cy="6881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logging hours is effortless</a:t>
            </a:r>
          </a:p>
        </p:txBody>
      </p:sp>
      <p:sp>
        <p:nvSpPr>
          <p:cNvPr id="3" name="Text 1"/>
          <p:cNvSpPr/>
          <p:nvPr/>
        </p:nvSpPr>
        <p:spPr>
          <a:xfrm>
            <a:off x="547744" y="2018190"/>
            <a:ext cx="8138160" cy="502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minute counts only when your student is actually working. </a:t>
            </a:r>
            <a:endParaRPr lang="en-US" sz="1600" dirty="0"/>
          </a:p>
        </p:txBody>
      </p:sp>
      <p:pic>
        <p:nvPicPr>
          <p:cNvPr id="4" name="Image 0" descr="/home/claude/mytutor/static/shots/timet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725305"/>
            <a:ext cx="8229600" cy="1224643"/>
          </a:xfrm>
          <a:prstGeom prst="rect">
            <a:avLst/>
          </a:prstGeom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C1DDA-F872-9F1C-C088-3484AD4133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848" t="15580" r="26459" b="27667"/>
          <a:stretch>
            <a:fillRect/>
          </a:stretch>
        </p:blipFill>
        <p:spPr>
          <a:xfrm>
            <a:off x="7818428" y="4264303"/>
            <a:ext cx="867476" cy="688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2F6C5F-AC13-719B-A8AD-8E33012AB7A5}"/>
              </a:ext>
            </a:extLst>
          </p:cNvPr>
          <p:cNvSpPr txBox="1"/>
          <p:nvPr/>
        </p:nvSpPr>
        <p:spPr>
          <a:xfrm>
            <a:off x="547744" y="1577409"/>
            <a:ext cx="7084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hours logs are kept automatically by </a:t>
            </a:r>
            <a:r>
              <a:rPr lang="en-US" sz="1600" dirty="0" err="1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Mr.Cadabra</a:t>
            </a: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5312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Homeschool records—done.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24925" y="1647593"/>
            <a:ext cx="2428290" cy="2659239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5146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7919" y="1666994"/>
            <a:ext cx="2569174" cy="2659239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58748" y="2020444"/>
            <a:ext cx="17568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printable plan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9292" y="2969941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page doubles as a scope &amp; sequence — print it for portfolios and filings.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38749" y="1645919"/>
            <a:ext cx="2532589" cy="2659239"/>
          </a:xfrm>
          <a:prstGeom prst="roundRect">
            <a:avLst>
              <a:gd name="adj" fmla="val 4138"/>
            </a:avLst>
          </a:prstGeom>
          <a:solidFill>
            <a:srgbClr val="F6F3FF"/>
          </a:solidFill>
          <a:ln w="12700">
            <a:solidFill>
              <a:srgbClr val="E5DFF7"/>
            </a:solidFill>
            <a:prstDash val="solid"/>
          </a:ln>
          <a:effectLst>
            <a:outerShdw blurRad="177800" dist="63500" dir="5400000" algn="bl" rotWithShape="0">
              <a:srgbClr val="3C287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8364" y="1874520"/>
            <a:ext cx="49890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77270" y="2017906"/>
            <a:ext cx="1832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evidence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9346" y="2913251"/>
            <a:ext cx="22219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checks and assessment results — demonstrated skill, not just attendance</a:t>
            </a:r>
            <a:r>
              <a:rPr lang="en-US" sz="125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pic>
        <p:nvPicPr>
          <p:cNvPr id="16" name="Graphic 15" descr="Paperclip">
            <a:extLst>
              <a:ext uri="{FF2B5EF4-FFF2-40B4-BE49-F238E27FC236}">
                <a16:creationId xmlns:a16="http://schemas.microsoft.com/office/drawing/2014/main" id="{93D3A5DB-A956-C385-1652-C7D25BB03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3070" y="1237042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DAFE2BF-DF4A-2A88-760D-C4C1F336E480}"/>
              </a:ext>
            </a:extLst>
          </p:cNvPr>
          <p:cNvSpPr txBox="1"/>
          <p:nvPr/>
        </p:nvSpPr>
        <p:spPr>
          <a:xfrm>
            <a:off x="1094679" y="2063584"/>
            <a:ext cx="1858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0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hours log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9C8DE0-363D-6DAC-27C2-6AEE9F7B16DE}"/>
              </a:ext>
            </a:extLst>
          </p:cNvPr>
          <p:cNvSpPr txBox="1"/>
          <p:nvPr/>
        </p:nvSpPr>
        <p:spPr>
          <a:xfrm>
            <a:off x="685800" y="2896970"/>
            <a:ext cx="20127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5B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instructional minutes per day and per course, kept for you automatically.</a:t>
            </a:r>
          </a:p>
        </p:txBody>
      </p:sp>
      <p:pic>
        <p:nvPicPr>
          <p:cNvPr id="20" name="Graphic 19" descr="Printer">
            <a:extLst>
              <a:ext uri="{FF2B5EF4-FFF2-40B4-BE49-F238E27FC236}">
                <a16:creationId xmlns:a16="http://schemas.microsoft.com/office/drawing/2014/main" id="{2A0C3501-4729-202D-D9DA-45F3C9C83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8545" y="2019836"/>
            <a:ext cx="316303" cy="400050"/>
          </a:xfrm>
          <a:prstGeom prst="rect">
            <a:avLst/>
          </a:prstGeom>
        </p:spPr>
      </p:pic>
      <p:pic>
        <p:nvPicPr>
          <p:cNvPr id="22" name="Graphic 21" descr="Clock">
            <a:extLst>
              <a:ext uri="{FF2B5EF4-FFF2-40B4-BE49-F238E27FC236}">
                <a16:creationId xmlns:a16="http://schemas.microsoft.com/office/drawing/2014/main" id="{E50C3BAB-C187-5A34-8A83-7B4AB3031F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678" y="1995418"/>
            <a:ext cx="519182" cy="519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92FF4A-A7EB-94B7-7663-B4A14770FCB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5848" t="15580" r="26459" b="27667"/>
          <a:stretch>
            <a:fillRect/>
          </a:stretch>
        </p:blipFill>
        <p:spPr>
          <a:xfrm>
            <a:off x="7965108" y="4297680"/>
            <a:ext cx="867476" cy="6881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5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25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7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mytutor/gamma/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37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491" y="2536819"/>
            <a:ext cx="6949440" cy="9575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your first lesson free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—n</a:t>
            </a:r>
            <a:r>
              <a:rPr lang="en-US" sz="2800" b="1" dirty="0">
                <a:solidFill>
                  <a:srgbClr val="F0ED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</a:t>
            </a:r>
            <a:r>
              <a:rPr lang="en-US" sz="2800" b="1" dirty="0">
                <a:solidFill>
                  <a:srgbClr val="F0E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needed. </a:t>
            </a:r>
            <a:endParaRPr lang="en-US" sz="2800" b="1" dirty="0"/>
          </a:p>
        </p:txBody>
      </p:sp>
      <p:sp>
        <p:nvSpPr>
          <p:cNvPr id="5" name="Text 2"/>
          <p:cNvSpPr/>
          <p:nvPr/>
        </p:nvSpPr>
        <p:spPr>
          <a:xfrm>
            <a:off x="814982" y="3578673"/>
            <a:ext cx="457200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mrcadabra.com/homeschool</a:t>
            </a:r>
            <a:endParaRPr lang="en-US" sz="2400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1E627B-5ADB-CE4D-4289-5912613848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82" t="17099" r="22914" b="22091"/>
          <a:stretch>
            <a:fillRect/>
          </a:stretch>
        </p:blipFill>
        <p:spPr>
          <a:xfrm>
            <a:off x="476954" y="456457"/>
            <a:ext cx="2720824" cy="19872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96442" y="424536"/>
            <a:ext cx="5683547" cy="796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meet </a:t>
            </a:r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Mr.Cadabra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03F94-CD0E-64D8-CF3D-8539151C76FB}"/>
              </a:ext>
            </a:extLst>
          </p:cNvPr>
          <p:cNvSpPr txBox="1"/>
          <p:nvPr/>
        </p:nvSpPr>
        <p:spPr>
          <a:xfrm>
            <a:off x="814982" y="4134196"/>
            <a:ext cx="7733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one of our first homeschool families to receive introductory pricing </a:t>
            </a:r>
          </a:p>
          <a:p>
            <a:r>
              <a:rPr lang="en-US" sz="16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help shape what’s next.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8D0DF-5ACB-45C9-8E5B-71F630A89EE2}"/>
              </a:ext>
            </a:extLst>
          </p:cNvPr>
          <p:cNvSpPr txBox="1"/>
          <p:nvPr/>
        </p:nvSpPr>
        <p:spPr>
          <a:xfrm>
            <a:off x="762902" y="2070385"/>
            <a:ext cx="2281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4"/>
                </a:solidFill>
              </a:rPr>
              <a:t>— </a:t>
            </a:r>
            <a:r>
              <a:rPr lang="en-US" sz="1200" dirty="0"/>
              <a:t>  </a:t>
            </a:r>
            <a:r>
              <a:rPr lang="en-US" sz="1200" dirty="0">
                <a:solidFill>
                  <a:srgbClr val="00206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AI-Powered  Tutor  </a:t>
            </a:r>
            <a:r>
              <a:rPr lang="en-US" sz="1200" dirty="0">
                <a:solidFill>
                  <a:schemeClr val="accent4"/>
                </a:solidFill>
              </a:rPr>
              <a:t>—</a:t>
            </a:r>
            <a:endParaRPr lang="en-US" sz="1200" dirty="0">
              <a:solidFill>
                <a:schemeClr val="accent4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3" grpId="0" animBg="1"/>
      <p:bldP spid="7" grpId="0"/>
      <p:bldP spid="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3396</TotalTime>
  <Words>815</Words>
  <Application>Microsoft Office PowerPoint</Application>
  <PresentationFormat>On-screen Show (16:9)</PresentationFormat>
  <Paragraphs>47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Consolas</vt:lpstr>
      <vt:lpstr>Courier New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Erika Simo</cp:lastModifiedBy>
  <cp:revision>22</cp:revision>
  <dcterms:created xsi:type="dcterms:W3CDTF">2026-07-31T01:05:45Z</dcterms:created>
  <dcterms:modified xsi:type="dcterms:W3CDTF">2026-08-07T23:55:17Z</dcterms:modified>
</cp:coreProperties>
</file>