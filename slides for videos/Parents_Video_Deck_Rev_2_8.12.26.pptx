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9"/>
  </p:notes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0431" autoAdjust="0"/>
  </p:normalViewPr>
  <p:slideViewPr>
    <p:cSldViewPr snapToGrid="0" snapToObjects="1">
      <p:cViewPr varScale="1">
        <p:scale>
          <a:sx n="113" d="100"/>
          <a:sy n="113" d="100"/>
        </p:scale>
        <p:origin x="448" y="6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9318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want a great math tutor for your child — and complete visibility and control for yourself. Mr. Cadabra gives you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4B15E-1398-07F4-6BF0-9AC27005F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3D6E5E-AF71-CB9C-0F55-5D2F86AC2C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6B57A1-C269-5E77-91E9-757EAB6F6E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things matter: your child's learning, what you get to see, and your family's privacy.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A41E69-297F-24AE-B9CF-6D9C151B66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7801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Mr. Cadabra teaches — he never just answers. He explains out loud, listens to your child, and can't be talked off math.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Your free parent account opens a read-only view: real progress, real scores, and where to help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is honest, too. The clock runs only while your child is actually working — and a weekly email keeps you posted.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Voice audio is deleted immediately. Student data is never sold, and there are no ads. You hold the keys.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Judge him yourself. Try one short lesson — out loud — at mrcadabra.com/demo.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2381"/>
            <a:ext cx="9144000" cy="3902869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7501" y="1086861"/>
            <a:ext cx="7929000" cy="2228288"/>
          </a:xfrm>
        </p:spPr>
        <p:txBody>
          <a:bodyPr/>
          <a:lstStyle>
            <a:lvl1pPr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7501" y="3960635"/>
            <a:ext cx="7929000" cy="326231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8/8/2026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02023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335391"/>
            <a:ext cx="7928999" cy="7278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4034" y="1666716"/>
            <a:ext cx="7915931" cy="27273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8/8/2026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66674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9144000" cy="3902869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2213547"/>
            <a:ext cx="7921064" cy="1101600"/>
          </a:xfrm>
        </p:spPr>
        <p:txBody>
          <a:bodyPr anchor="b"/>
          <a:lstStyle>
            <a:lvl1pPr algn="r">
              <a:defRPr sz="36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7500" y="3960901"/>
            <a:ext cx="7921064" cy="325466"/>
          </a:xfrm>
        </p:spPr>
        <p:txBody>
          <a:bodyPr anchor="t">
            <a:noAutofit/>
          </a:bodyPr>
          <a:lstStyle>
            <a:lvl1pPr marL="0" indent="0" algn="r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8/8/2026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69643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4034" y="1666716"/>
            <a:ext cx="3889405" cy="27290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62" y="1666715"/>
            <a:ext cx="3895937" cy="272907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8/8/2026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26686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046" y="1631156"/>
            <a:ext cx="3892393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047" y="2063354"/>
            <a:ext cx="3892392" cy="233243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62" y="1631156"/>
            <a:ext cx="3895937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62" y="2063354"/>
            <a:ext cx="3895937" cy="233243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8/8/2026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81654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8/8/2026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09805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8/8/2026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66910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804864" y="334566"/>
            <a:ext cx="2660650" cy="13609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864" y="334566"/>
            <a:ext cx="2660650" cy="1213797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334567"/>
            <a:ext cx="4689475" cy="40612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4864" y="1695554"/>
            <a:ext cx="2660650" cy="270023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8/8/2026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150248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046" y="545642"/>
            <a:ext cx="3639741" cy="1212872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4573588" y="0"/>
            <a:ext cx="4570412" cy="51435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1046" y="1758513"/>
            <a:ext cx="3639741" cy="2637274"/>
          </a:xfrm>
        </p:spPr>
        <p:txBody>
          <a:bodyPr anchor="t"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914358" y="4531022"/>
            <a:ext cx="732659" cy="273844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8/8/2026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42797" y="4531022"/>
            <a:ext cx="2471560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47017" y="4436917"/>
            <a:ext cx="796616" cy="36794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171745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3600450"/>
            <a:ext cx="7921064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9144000" cy="360045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7500" y="4025504"/>
            <a:ext cx="7921064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8/8/2026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60830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473773" y="811092"/>
            <a:ext cx="4749312" cy="242939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8239" y="928877"/>
            <a:ext cx="4420380" cy="1984434"/>
          </a:xfrm>
        </p:spPr>
        <p:txBody>
          <a:bodyPr anchor="b"/>
          <a:lstStyle>
            <a:lvl1pPr algn="l">
              <a:defRPr sz="315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9893" y="3332760"/>
            <a:ext cx="4418727" cy="534931"/>
          </a:xfrm>
        </p:spPr>
        <p:txBody>
          <a:bodyPr anchor="t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5680982" y="811092"/>
            <a:ext cx="2857501" cy="3056599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8/8/2026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25979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855664" y="1714939"/>
            <a:ext cx="3671336" cy="1877979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017817" y="1826968"/>
            <a:ext cx="3286891" cy="1505842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4617000" y="1714500"/>
            <a:ext cx="3660225" cy="1721644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8/8/2026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11104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8/8/2026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02815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5752239" y="334567"/>
            <a:ext cx="3391762" cy="406122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37656" y="439628"/>
            <a:ext cx="1871093" cy="385109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7501" y="334567"/>
            <a:ext cx="4958655" cy="406122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8/8/2026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32713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7728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7500" y="335391"/>
            <a:ext cx="7928999" cy="727838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7500" y="1638301"/>
            <a:ext cx="7922464" cy="2755798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8636" y="4531022"/>
            <a:ext cx="6483240" cy="27384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675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000969" y="4531022"/>
            <a:ext cx="1007780" cy="27384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675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8/8/2026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08749" y="4436917"/>
            <a:ext cx="796616" cy="36794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15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8532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3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80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210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270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ytutor/gamma/gr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9256" y="2514304"/>
            <a:ext cx="7335570" cy="7149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child’s personal math tutor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558161" y="3099607"/>
            <a:ext cx="5793544" cy="513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</a:t>
            </a:r>
            <a:r>
              <a:rPr lang="en-US" sz="20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en-US" sz="2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Complete visibility </a:t>
            </a:r>
            <a:r>
              <a:rPr lang="en-US" sz="20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into your child’s learning. 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89CA496-8870-C83B-FC56-9A36E2A2F542}"/>
              </a:ext>
            </a:extLst>
          </p:cNvPr>
          <p:cNvSpPr/>
          <p:nvPr/>
        </p:nvSpPr>
        <p:spPr>
          <a:xfrm>
            <a:off x="4197246" y="582147"/>
            <a:ext cx="2983043" cy="355113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558161" y="4371409"/>
            <a:ext cx="264930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mrcadabra.com</a:t>
            </a:r>
            <a:endParaRPr lang="en-US" sz="2400" dirty="0">
              <a:solidFill>
                <a:schemeClr val="accent4"/>
              </a:solidFill>
            </a:endParaRPr>
          </a:p>
        </p:txBody>
      </p:sp>
      <p:sp>
        <p:nvSpPr>
          <p:cNvPr id="3" name="Text 0"/>
          <p:cNvSpPr/>
          <p:nvPr/>
        </p:nvSpPr>
        <p:spPr>
          <a:xfrm>
            <a:off x="3860116" y="582147"/>
            <a:ext cx="357782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500" b="1" kern="0" spc="300" dirty="0">
                <a:solidFill>
                  <a:srgbClr val="E8F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500" b="1" kern="0" spc="300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</a:t>
            </a:r>
            <a:r>
              <a:rPr lang="en-US" sz="1500" b="1" kern="0" spc="300" dirty="0">
                <a:solidFill>
                  <a:srgbClr val="E8FF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b="1" kern="0" spc="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PARENTS </a:t>
            </a:r>
            <a:r>
              <a:rPr lang="en-US" sz="1500" b="1" kern="0" spc="300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</a:t>
            </a:r>
            <a:endParaRPr lang="en-US" sz="1500" dirty="0">
              <a:solidFill>
                <a:schemeClr val="accent4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5AD6F00-21A0-5C2C-FD89-5337301D64A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848" t="15580" r="26459" b="27667"/>
          <a:stretch>
            <a:fillRect/>
          </a:stretch>
        </p:blipFill>
        <p:spPr>
          <a:xfrm>
            <a:off x="404037" y="297180"/>
            <a:ext cx="2542746" cy="201720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F491C94-A9AD-EF63-ADC0-3BAE899495A0}"/>
              </a:ext>
            </a:extLst>
          </p:cNvPr>
          <p:cNvSpPr txBox="1"/>
          <p:nvPr/>
        </p:nvSpPr>
        <p:spPr>
          <a:xfrm>
            <a:off x="777194" y="2121226"/>
            <a:ext cx="20507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EFB251"/>
                </a:solidFill>
                <a:latin typeface="Century Gothic" panose="020B0502020202020204"/>
              </a:rPr>
              <a:t>— </a:t>
            </a:r>
            <a:r>
              <a:rPr lang="en-US" sz="1200" dirty="0">
                <a:solidFill>
                  <a:prstClr val="white"/>
                </a:solidFill>
                <a:latin typeface="Century Gothic" panose="020B0502020202020204"/>
              </a:rPr>
              <a:t>  </a:t>
            </a:r>
            <a:r>
              <a:rPr lang="en-US" sz="1200" dirty="0">
                <a:solidFill>
                  <a:srgbClr val="002060"/>
                </a:solidFill>
                <a:latin typeface="Century Gothic" panose="020B0502020202020204"/>
                <a:ea typeface="Calibri" panose="020F0502020204030204" pitchFamily="34" charset="0"/>
                <a:cs typeface="Calibri" panose="020F0502020204030204" pitchFamily="34" charset="0"/>
              </a:rPr>
              <a:t>AI-Powered Tutor  </a:t>
            </a:r>
            <a:r>
              <a:rPr lang="en-US" sz="1200" dirty="0">
                <a:solidFill>
                  <a:srgbClr val="EFB251"/>
                </a:solidFill>
                <a:latin typeface="Century Gothic" panose="020B0502020202020204"/>
              </a:rPr>
              <a:t>—</a:t>
            </a:r>
            <a:endParaRPr lang="en-US" sz="1200" dirty="0">
              <a:solidFill>
                <a:srgbClr val="EFB251"/>
              </a:solidFill>
              <a:latin typeface="Century Gothic" panose="020B0502020202020204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587679-1488-F398-A85D-55AA9D5547FC}"/>
              </a:ext>
            </a:extLst>
          </p:cNvPr>
          <p:cNvSpPr txBox="1"/>
          <p:nvPr/>
        </p:nvSpPr>
        <p:spPr>
          <a:xfrm>
            <a:off x="558161" y="3564512"/>
            <a:ext cx="61649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</a:t>
            </a:r>
            <a:r>
              <a:rPr lang="en-US" sz="20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en-US" sz="2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Complete control </a:t>
            </a:r>
            <a:r>
              <a:rPr lang="en-US" sz="20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 your family's data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25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2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75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2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" grpId="0" animBg="1"/>
      <p:bldP spid="6" grpId="0" animBg="1"/>
      <p:bldP spid="3" grpId="0" animBg="1"/>
      <p:bldP spid="11" grpId="0"/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0F1E1-54E6-D282-A9F2-C0883B429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1A0A320-F0D3-B432-C750-61C45844CFBD}"/>
              </a:ext>
            </a:extLst>
          </p:cNvPr>
          <p:cNvSpPr txBox="1"/>
          <p:nvPr/>
        </p:nvSpPr>
        <p:spPr>
          <a:xfrm>
            <a:off x="0" y="-18624"/>
            <a:ext cx="9144000" cy="515260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ADA1E0E-02CB-D058-25B9-FC2AD3FD0F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8624"/>
            <a:ext cx="9144000" cy="52822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6DFD380-376E-05D0-21D5-6D59BD674EDA}"/>
              </a:ext>
            </a:extLst>
          </p:cNvPr>
          <p:cNvSpPr txBox="1"/>
          <p:nvPr/>
        </p:nvSpPr>
        <p:spPr>
          <a:xfrm>
            <a:off x="3845082" y="1471723"/>
            <a:ext cx="40776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⭐ </a:t>
            </a:r>
            <a:r>
              <a:rPr lang="en-US" b="1" dirty="0">
                <a:solidFill>
                  <a:schemeClr val="bg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Your parent view</a:t>
            </a:r>
            <a:endParaRPr lang="en-US" dirty="0">
              <a:solidFill>
                <a:schemeClr val="bg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i="1" dirty="0">
                <a:solidFill>
                  <a:schemeClr val="bg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clear view of progress and where to help next.</a:t>
            </a:r>
            <a:endParaRPr lang="en-US" dirty="0">
              <a:solidFill>
                <a:schemeClr val="bg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22E9A4-D3CE-4C0D-15DE-D2ADFCFA1A25}"/>
              </a:ext>
            </a:extLst>
          </p:cNvPr>
          <p:cNvSpPr txBox="1"/>
          <p:nvPr/>
        </p:nvSpPr>
        <p:spPr>
          <a:xfrm>
            <a:off x="3132280" y="3573167"/>
            <a:ext cx="3965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⭐ </a:t>
            </a:r>
            <a:r>
              <a:rPr lang="en-US" b="1" dirty="0">
                <a:solidFill>
                  <a:schemeClr val="bg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Your family's privacy</a:t>
            </a:r>
            <a:endParaRPr lang="en-US" dirty="0">
              <a:solidFill>
                <a:schemeClr val="bg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i="1" dirty="0">
                <a:solidFill>
                  <a:schemeClr val="bg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Complete control of your family's data.</a:t>
            </a:r>
            <a:endParaRPr lang="en-US" dirty="0">
              <a:solidFill>
                <a:schemeClr val="bg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81650DCD-A9C4-FCB3-7944-061E8CD9FB42}"/>
              </a:ext>
            </a:extLst>
          </p:cNvPr>
          <p:cNvSpPr/>
          <p:nvPr/>
        </p:nvSpPr>
        <p:spPr>
          <a:xfrm>
            <a:off x="502919" y="619171"/>
            <a:ext cx="4627539" cy="650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7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matters most to parents</a:t>
            </a:r>
            <a:endParaRPr lang="en-US" sz="27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9F7CB784-FEC3-53D2-5FE2-01E43C14639B}"/>
              </a:ext>
            </a:extLst>
          </p:cNvPr>
          <p:cNvSpPr/>
          <p:nvPr/>
        </p:nvSpPr>
        <p:spPr>
          <a:xfrm>
            <a:off x="1303480" y="2557677"/>
            <a:ext cx="3657600" cy="923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chemeClr val="bg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⭐ </a:t>
            </a:r>
            <a:r>
              <a:rPr lang="en-US" sz="1600" b="1" dirty="0">
                <a:solidFill>
                  <a:schemeClr val="bg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Your child's learning</a:t>
            </a:r>
            <a:endParaRPr lang="en-US" sz="1600" dirty="0">
              <a:solidFill>
                <a:schemeClr val="bg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i="1" dirty="0">
                <a:solidFill>
                  <a:schemeClr val="bg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patient tutor that teaches, not just answers.</a:t>
            </a:r>
            <a:endParaRPr lang="en-US" sz="1600" dirty="0">
              <a:solidFill>
                <a:schemeClr val="bg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E3A098-84AE-6C45-DB2A-4AF8F724C75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848" t="15580" r="26459" b="27667"/>
          <a:stretch>
            <a:fillRect/>
          </a:stretch>
        </p:blipFill>
        <p:spPr>
          <a:xfrm>
            <a:off x="7833939" y="4337267"/>
            <a:ext cx="852862" cy="676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459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50"/>
                            </p:stCondLst>
                            <p:childTnLst>
                              <p:par>
                                <p:cTn id="21" presetID="3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250"/>
                            </p:stCondLst>
                            <p:childTnLst>
                              <p:par>
                                <p:cTn id="28" presetID="3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3" grpId="0" animBg="1"/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ytutor/static/shots/les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052916"/>
            <a:ext cx="4480560" cy="3037668"/>
          </a:xfrm>
          <a:prstGeom prst="rect">
            <a:avLst/>
          </a:prstGeom>
          <a:effectLst>
            <a:outerShdw blurRad="177800" dist="63500" dir="5400000" algn="bl" rotWithShape="0">
              <a:srgbClr val="3C2878">
                <a:alpha val="28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502920" y="806233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tutor that teaches — never just answers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48640" y="2117872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 err="1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Mr.Cadabra</a:t>
            </a:r>
            <a:r>
              <a:rPr lang="en-US" sz="16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explains out loud, draws every step, listens to your child's answer, and asks the next question instead of giving the answer. </a:t>
            </a:r>
          </a:p>
          <a:p>
            <a:pPr marL="0" indent="0">
              <a:lnSpc>
                <a:spcPct val="115000"/>
              </a:lnSpc>
              <a:buNone/>
            </a:pPr>
            <a:endParaRPr lang="en-US" sz="1600" dirty="0">
              <a:solidFill>
                <a:srgbClr val="5B607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He's math-only and won't be talked off topic — even when kids try.</a:t>
            </a:r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BB162A-1BD2-D5A5-2EAC-BDC0238315E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848" t="15580" r="26459" b="27667"/>
          <a:stretch>
            <a:fillRect/>
          </a:stretch>
        </p:blipFill>
        <p:spPr>
          <a:xfrm>
            <a:off x="7833939" y="4337267"/>
            <a:ext cx="852862" cy="6765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ytutor/static/shots/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29200"/>
            <a:ext cx="4480560" cy="2885100"/>
          </a:xfrm>
          <a:prstGeom prst="rect">
            <a:avLst/>
          </a:prstGeom>
          <a:effectLst>
            <a:outerShdw blurRad="177800" dist="63500" dir="5400000" algn="bl" rotWithShape="0">
              <a:srgbClr val="3C2878">
                <a:alpha val="28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5088421" y="968884"/>
            <a:ext cx="3417340" cy="7790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 matters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088421" y="2002620"/>
            <a:ext cx="34173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n-US" sz="1600" dirty="0">
                <a:solidFill>
                  <a:schemeClr val="bg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Your free parent account opens a read-only dashboard with your child's progress, where help is needed next, and real scores from real checks.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9331C8-779E-3367-A9C6-C33273A16C5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848" t="15580" r="26459" b="27667"/>
          <a:stretch>
            <a:fillRect/>
          </a:stretch>
        </p:blipFill>
        <p:spPr>
          <a:xfrm>
            <a:off x="7833939" y="4337267"/>
            <a:ext cx="852862" cy="6765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time, honest numbers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1383592"/>
            <a:ext cx="8138160" cy="632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minute counts only when your child is actually working — walk away or switch tabs and the clock stops. </a:t>
            </a:r>
          </a:p>
        </p:txBody>
      </p:sp>
      <p:pic>
        <p:nvPicPr>
          <p:cNvPr id="4" name="Image 0" descr="/home/claude/mytutor/static/shots/timet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97480"/>
            <a:ext cx="8229600" cy="1224643"/>
          </a:xfrm>
          <a:prstGeom prst="rect">
            <a:avLst/>
          </a:prstGeom>
          <a:effectLst>
            <a:outerShdw blurRad="177800" dist="63500" dir="5400000" algn="bl" rotWithShape="0">
              <a:srgbClr val="3C2878">
                <a:alpha val="28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69E3FD2-B848-9BA2-201F-538675E08D7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848" t="15580" r="26459" b="27667"/>
          <a:stretch>
            <a:fillRect/>
          </a:stretch>
        </p:blipFill>
        <p:spPr>
          <a:xfrm>
            <a:off x="7833939" y="4337267"/>
            <a:ext cx="852862" cy="6765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09B55D-5CC4-C542-1813-9A7A49D3AB7C}"/>
              </a:ext>
            </a:extLst>
          </p:cNvPr>
          <p:cNvSpPr txBox="1"/>
          <p:nvPr/>
        </p:nvSpPr>
        <p:spPr>
          <a:xfrm>
            <a:off x="502920" y="2097670"/>
            <a:ext cx="5733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"42 minutes today" means 42 minutes of math.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2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2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53" presetClass="entr" presetSubtype="16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promises we can keep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73679" y="1645920"/>
            <a:ext cx="2556313" cy="2651760"/>
          </a:xfrm>
          <a:prstGeom prst="roundRect">
            <a:avLst>
              <a:gd name="adj" fmla="val 4138"/>
            </a:avLst>
          </a:prstGeom>
          <a:solidFill>
            <a:srgbClr val="F6F3FF"/>
          </a:solidFill>
          <a:ln w="12700">
            <a:solidFill>
              <a:srgbClr val="E5DFF7"/>
            </a:solidFill>
            <a:prstDash val="solid"/>
          </a:ln>
          <a:effectLst>
            <a:outerShdw blurRad="177800" dist="63500" dir="5400000" algn="bl" rotWithShape="0">
              <a:srgbClr val="3C287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70163" y="2022370"/>
            <a:ext cx="210089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voice </a:t>
            </a:r>
            <a:r>
              <a:rPr lang="en-US" sz="1600" b="1" dirty="0">
                <a:solidFill>
                  <a:schemeClr val="bg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</a:t>
            </a:r>
            <a:r>
              <a:rPr lang="en-US" sz="160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kept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6705" y="2762432"/>
            <a:ext cx="22219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recordings are discarded after each task is evaluated.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12632" y="1650220"/>
            <a:ext cx="2556313" cy="2651760"/>
          </a:xfrm>
          <a:prstGeom prst="roundRect">
            <a:avLst>
              <a:gd name="adj" fmla="val 4138"/>
            </a:avLst>
          </a:prstGeom>
          <a:solidFill>
            <a:srgbClr val="F6F3FF"/>
          </a:solidFill>
          <a:ln w="12700">
            <a:solidFill>
              <a:srgbClr val="E5DFF7"/>
            </a:solidFill>
            <a:prstDash val="solid"/>
          </a:ln>
          <a:effectLst>
            <a:outerShdw blurRad="177800" dist="63500" dir="5400000" algn="bl" rotWithShape="0">
              <a:srgbClr val="3C2878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982274" y="2015209"/>
            <a:ext cx="18866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</a:t>
            </a:r>
            <a:r>
              <a:rPr lang="en-US" sz="1600" b="1" dirty="0">
                <a:solidFill>
                  <a:schemeClr val="bg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sold, no ads</a:t>
            </a:r>
            <a:endParaRPr lang="en-US" sz="1600" dirty="0">
              <a:solidFill>
                <a:schemeClr val="bg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3593592" y="2757115"/>
            <a:ext cx="2221992" cy="1323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2000"/>
              </a:lnSpc>
            </a:pPr>
            <a:r>
              <a:rPr lang="en-US" sz="16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never sell student data. Children are never asked for an email, phone number, photos, or location.</a:t>
            </a:r>
          </a:p>
        </p:txBody>
      </p:sp>
      <p:sp>
        <p:nvSpPr>
          <p:cNvPr id="11" name="Shape 9"/>
          <p:cNvSpPr/>
          <p:nvPr/>
        </p:nvSpPr>
        <p:spPr>
          <a:xfrm>
            <a:off x="6158484" y="1650220"/>
            <a:ext cx="2482596" cy="2651760"/>
          </a:xfrm>
          <a:prstGeom prst="roundRect">
            <a:avLst>
              <a:gd name="adj" fmla="val 4138"/>
            </a:avLst>
          </a:prstGeom>
          <a:solidFill>
            <a:srgbClr val="F6F3FF"/>
          </a:solidFill>
          <a:ln w="12700">
            <a:solidFill>
              <a:srgbClr val="E5DFF7"/>
            </a:solidFill>
            <a:prstDash val="solid"/>
          </a:ln>
          <a:effectLst>
            <a:outerShdw blurRad="177800" dist="63500" dir="5400000" algn="bl" rotWithShape="0">
              <a:srgbClr val="3C2878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34699" y="1999483"/>
            <a:ext cx="15747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hold the keys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72784" y="2847580"/>
            <a:ext cx="22219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2000"/>
              </a:lnSpc>
            </a:pPr>
            <a:r>
              <a:rPr lang="en-US" sz="1600" dirty="0">
                <a:solidFill>
                  <a:schemeClr val="bg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 control the account—and if you ever want your child's data deleted, just let us know</a:t>
            </a:r>
            <a:r>
              <a:rPr lang="en-US" sz="1600" dirty="0">
                <a:solidFill>
                  <a:schemeClr val="bg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CE67105-2EB1-7C8F-6C52-70E6E17733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848" t="15580" r="26459" b="27667"/>
          <a:stretch>
            <a:fillRect/>
          </a:stretch>
        </p:blipFill>
        <p:spPr>
          <a:xfrm>
            <a:off x="7833939" y="4337267"/>
            <a:ext cx="852862" cy="676591"/>
          </a:xfrm>
          <a:prstGeom prst="rect">
            <a:avLst/>
          </a:prstGeom>
        </p:spPr>
      </p:pic>
      <p:pic>
        <p:nvPicPr>
          <p:cNvPr id="17" name="Graphic 16" descr="Radio microphone">
            <a:extLst>
              <a:ext uri="{FF2B5EF4-FFF2-40B4-BE49-F238E27FC236}">
                <a16:creationId xmlns:a16="http://schemas.microsoft.com/office/drawing/2014/main" id="{58FD0D0B-AC03-0424-C0F5-531849B17C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4087" y="2068602"/>
            <a:ext cx="457200" cy="45720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5AB3B4A-55D9-1C19-6CE0-E7CCF4BC9C11}"/>
              </a:ext>
            </a:extLst>
          </p:cNvPr>
          <p:cNvCxnSpPr>
            <a:cxnSpLocks/>
          </p:cNvCxnSpPr>
          <p:nvPr/>
        </p:nvCxnSpPr>
        <p:spPr>
          <a:xfrm>
            <a:off x="513905" y="2068602"/>
            <a:ext cx="437382" cy="32807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38A7535-9D59-A364-9F01-9FA77BAC842A}"/>
              </a:ext>
            </a:extLst>
          </p:cNvPr>
          <p:cNvCxnSpPr>
            <a:cxnSpLocks/>
          </p:cNvCxnSpPr>
          <p:nvPr/>
        </p:nvCxnSpPr>
        <p:spPr>
          <a:xfrm flipV="1">
            <a:off x="513905" y="2068602"/>
            <a:ext cx="437382" cy="32807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5" name="Graphic 24" descr="Lock">
            <a:extLst>
              <a:ext uri="{FF2B5EF4-FFF2-40B4-BE49-F238E27FC236}">
                <a16:creationId xmlns:a16="http://schemas.microsoft.com/office/drawing/2014/main" id="{FEF03063-1699-BE00-A7EA-98B647E8D12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37755" y="1979611"/>
            <a:ext cx="496944" cy="496944"/>
          </a:xfrm>
          <a:prstGeom prst="rect">
            <a:avLst/>
          </a:prstGeom>
        </p:spPr>
      </p:pic>
      <p:pic>
        <p:nvPicPr>
          <p:cNvPr id="27" name="Graphic 26" descr="No sign">
            <a:extLst>
              <a:ext uri="{FF2B5EF4-FFF2-40B4-BE49-F238E27FC236}">
                <a16:creationId xmlns:a16="http://schemas.microsoft.com/office/drawing/2014/main" id="{5EBA740D-0ED1-A190-D961-20D621FB013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29181" y="1979655"/>
            <a:ext cx="499915" cy="499915"/>
          </a:xfrm>
          <a:prstGeom prst="rect">
            <a:avLst/>
          </a:prstGeom>
        </p:spPr>
      </p:pic>
      <p:pic>
        <p:nvPicPr>
          <p:cNvPr id="30" name="Graphic 29" descr="Checkmark">
            <a:extLst>
              <a:ext uri="{FF2B5EF4-FFF2-40B4-BE49-F238E27FC236}">
                <a16:creationId xmlns:a16="http://schemas.microsoft.com/office/drawing/2014/main" id="{E39EA9C8-7F81-B4F7-0FF3-7B2F8CBE79A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833939" y="1232676"/>
            <a:ext cx="731520" cy="731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250"/>
                            </p:stCondLst>
                            <p:childTnLst>
                              <p:par>
                                <p:cTn id="5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000"/>
                            </p:stCondLst>
                            <p:childTnLst>
                              <p:par>
                                <p:cTn id="6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4750"/>
                            </p:stCondLst>
                            <p:childTnLst>
                              <p:par>
                                <p:cTn id="7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500"/>
                            </p:stCondLst>
                            <p:childTnLst>
                              <p:par>
                                <p:cTn id="8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9" grpId="0" animBg="1"/>
      <p:bldP spid="10" grpId="0" animBg="1"/>
      <p:bldP spid="13" grpId="0" animBg="1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ytutor/gamma/gr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75410" y="664674"/>
            <a:ext cx="7863840" cy="103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See </a:t>
            </a:r>
            <a:r>
              <a:rPr lang="en-US" sz="3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Mr.Cadabra</a:t>
            </a:r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action.</a:t>
            </a:r>
          </a:p>
        </p:txBody>
      </p:sp>
      <p:sp>
        <p:nvSpPr>
          <p:cNvPr id="4" name="Text 1"/>
          <p:cNvSpPr/>
          <p:nvPr/>
        </p:nvSpPr>
        <p:spPr>
          <a:xfrm>
            <a:off x="631103" y="2805409"/>
            <a:ext cx="82415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Try one short lesson yourself — answer out loud — and see if it's right for your family. 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310768" y="3652633"/>
            <a:ext cx="366209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mrcadabra.com/demo</a:t>
            </a:r>
            <a:endParaRPr lang="en-US" sz="2400" dirty="0">
              <a:solidFill>
                <a:schemeClr val="accent4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B22D49-57C3-DF41-5D97-EE3334A229F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848" t="15580" r="26459" b="27667"/>
          <a:stretch>
            <a:fillRect/>
          </a:stretch>
        </p:blipFill>
        <p:spPr>
          <a:xfrm>
            <a:off x="404037" y="297180"/>
            <a:ext cx="2542746" cy="20172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F2095B4-04DA-932A-C253-B79C1299C952}"/>
              </a:ext>
            </a:extLst>
          </p:cNvPr>
          <p:cNvSpPr txBox="1"/>
          <p:nvPr/>
        </p:nvSpPr>
        <p:spPr>
          <a:xfrm>
            <a:off x="777194" y="2121226"/>
            <a:ext cx="20507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EFB251"/>
                </a:solidFill>
                <a:latin typeface="Century Gothic" panose="020B0502020202020204"/>
              </a:rPr>
              <a:t>— </a:t>
            </a:r>
            <a:r>
              <a:rPr lang="en-US" sz="1200" dirty="0">
                <a:solidFill>
                  <a:prstClr val="white"/>
                </a:solidFill>
                <a:latin typeface="Century Gothic" panose="020B0502020202020204"/>
              </a:rPr>
              <a:t>  </a:t>
            </a:r>
            <a:r>
              <a:rPr lang="en-US" sz="1200" dirty="0">
                <a:solidFill>
                  <a:srgbClr val="002060"/>
                </a:solidFill>
                <a:latin typeface="Century Gothic" panose="020B0502020202020204"/>
                <a:ea typeface="Calibri" panose="020F0502020204030204" pitchFamily="34" charset="0"/>
                <a:cs typeface="Calibri" panose="020F0502020204030204" pitchFamily="34" charset="0"/>
              </a:rPr>
              <a:t>AI-Powered Tutor  </a:t>
            </a:r>
            <a:r>
              <a:rPr lang="en-US" sz="1200" dirty="0">
                <a:solidFill>
                  <a:srgbClr val="EFB251"/>
                </a:solidFill>
                <a:latin typeface="Century Gothic" panose="020B0502020202020204"/>
              </a:rPr>
              <a:t>—</a:t>
            </a:r>
            <a:endParaRPr lang="en-US" sz="1200" dirty="0">
              <a:solidFill>
                <a:srgbClr val="EFB251"/>
              </a:solidFill>
              <a:latin typeface="Century Gothic" panose="020B0502020202020204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2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25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Quotable</Template>
  <TotalTime>5187</TotalTime>
  <Words>536</Words>
  <Application>Microsoft Office PowerPoint</Application>
  <PresentationFormat>On-screen Show (16:9)</PresentationFormat>
  <Paragraphs>47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</vt:lpstr>
      <vt:lpstr>Century Gothic</vt:lpstr>
      <vt:lpstr>Wingdings 2</vt:lpstr>
      <vt:lpstr>Quotable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Erika Simo</cp:lastModifiedBy>
  <cp:revision>39</cp:revision>
  <dcterms:created xsi:type="dcterms:W3CDTF">2026-07-31T01:05:45Z</dcterms:created>
  <dcterms:modified xsi:type="dcterms:W3CDTF">2026-08-10T16:52:50Z</dcterms:modified>
</cp:coreProperties>
</file>