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431" autoAdjust="0"/>
  </p:normalViewPr>
  <p:slideViewPr>
    <p:cSldViewPr snapToGrid="0" snapToObjects="1">
      <p:cViewPr varScale="1">
        <p:scale>
          <a:sx n="113" d="100"/>
          <a:sy n="113" d="100"/>
        </p:scale>
        <p:origin x="448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31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dirty="0"/>
              <a:t>As a parent, you want a great math tutor for your child—and complete visibility and control for yourself. Let's see how Mr. Cadabra brings it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B15E-1398-07F4-6BF0-9AC27005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D6E5E-AF71-CB9C-0F55-5D2F86AC2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B57A1-C269-5E77-91E9-757EAB6F6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parent has three questions: What will my child experience? What will I be able to see? And how is my family's data protected? Let's look at each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41E69-297F-24AE-B9CF-6D9C151B6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80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your child’s learning. Mister Cadabra teaches like a great tutor—explaining every step, asking the next question, and keeping every lesson focused on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Second, what you see. Your own parent code opens a read-only view of your child's real progress — what's mastered, what they're working on, and where to help next.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track time honestly. The clock runs only while your child is actively learning. Walk away or switch tabs, and it stops. Every week, you'll receive a progress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third—your family's data. Voice recordings are never kept. We never sell student data or show ads. You control the account and can delete your child's data at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way to judge Mister Cadabra is to try a lesson yourself. It takes just two minutes, with no sign-up required. Visit MisterCadabra.com/demo—we'd love to hear what you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202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6667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696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668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8165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980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6691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5024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7174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083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597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10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281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271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7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53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256" y="2514304"/>
            <a:ext cx="7335570" cy="714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child’s personal math tutor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58161" y="3099607"/>
            <a:ext cx="5793544" cy="513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visibility 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your child’s learning.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9CA496-8870-C83B-FC56-9A36E2A2F542}"/>
              </a:ext>
            </a:extLst>
          </p:cNvPr>
          <p:cNvSpPr/>
          <p:nvPr/>
        </p:nvSpPr>
        <p:spPr>
          <a:xfrm>
            <a:off x="4197246" y="582147"/>
            <a:ext cx="2983043" cy="355113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8161" y="4371409"/>
            <a:ext cx="26493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3" name="Text 0"/>
          <p:cNvSpPr/>
          <p:nvPr/>
        </p:nvSpPr>
        <p:spPr>
          <a:xfrm>
            <a:off x="3860116" y="582147"/>
            <a:ext cx="35778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kern="0" spc="300" dirty="0">
                <a:solidFill>
                  <a:srgbClr val="E8F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500" b="1" kern="0" spc="3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500" b="1" kern="0" spc="300" dirty="0">
                <a:solidFill>
                  <a:srgbClr val="E8FF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kern="0" spc="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PARENTS </a:t>
            </a:r>
            <a:r>
              <a:rPr lang="en-US" sz="1500" b="1" kern="0" spc="3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endParaRPr lang="en-US" sz="1500" dirty="0">
              <a:solidFill>
                <a:schemeClr val="accent4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AD6F00-21A0-5C2C-FD89-5337301D6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404037" y="297180"/>
            <a:ext cx="2542746" cy="20172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491C94-A9AD-EF63-ADC0-3BAE899495A0}"/>
              </a:ext>
            </a:extLst>
          </p:cNvPr>
          <p:cNvSpPr txBox="1"/>
          <p:nvPr/>
        </p:nvSpPr>
        <p:spPr>
          <a:xfrm>
            <a:off x="777194" y="2121226"/>
            <a:ext cx="205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 </a:t>
            </a:r>
            <a:r>
              <a:rPr lang="en-US" sz="1200" dirty="0">
                <a:solidFill>
                  <a:prstClr val="white"/>
                </a:solidFill>
                <a:latin typeface="Century Gothic" panose="020B0502020202020204"/>
              </a:rPr>
              <a:t>  </a:t>
            </a:r>
            <a:r>
              <a:rPr lang="en-US" sz="1200" dirty="0">
                <a:solidFill>
                  <a:srgbClr val="002060"/>
                </a:solidFill>
                <a:latin typeface="Century Gothic" panose="020B0502020202020204"/>
                <a:ea typeface="Calibri" panose="020F0502020204030204" pitchFamily="34" charset="0"/>
                <a:cs typeface="Calibri" panose="020F0502020204030204" pitchFamily="34" charset="0"/>
              </a:rPr>
              <a:t>AI-Powered Tutor  </a:t>
            </a:r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</a:t>
            </a:r>
            <a:endParaRPr lang="en-US" sz="1200" dirty="0">
              <a:solidFill>
                <a:srgbClr val="EFB251"/>
              </a:solidFill>
              <a:latin typeface="Century Gothic" panose="020B0502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87679-1488-F398-A85D-55AA9D5547FC}"/>
              </a:ext>
            </a:extLst>
          </p:cNvPr>
          <p:cNvSpPr txBox="1"/>
          <p:nvPr/>
        </p:nvSpPr>
        <p:spPr>
          <a:xfrm>
            <a:off x="558161" y="3564512"/>
            <a:ext cx="6164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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control 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your family's data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6" grpId="0" animBg="1"/>
      <p:bldP spid="3" grpId="0" animBg="1"/>
      <p:bldP spid="11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F1E1-54E6-D282-A9F2-C0883B429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A0A320-F0D3-B432-C750-61C45844CFBD}"/>
              </a:ext>
            </a:extLst>
          </p:cNvPr>
          <p:cNvSpPr txBox="1"/>
          <p:nvPr/>
        </p:nvSpPr>
        <p:spPr>
          <a:xfrm>
            <a:off x="0" y="-18624"/>
            <a:ext cx="9144000" cy="515260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DA1E0E-02CB-D058-25B9-FC2AD3FD0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624"/>
            <a:ext cx="9144000" cy="5282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DFD380-376E-05D0-21D5-6D59BD674EDA}"/>
              </a:ext>
            </a:extLst>
          </p:cNvPr>
          <p:cNvSpPr txBox="1"/>
          <p:nvPr/>
        </p:nvSpPr>
        <p:spPr>
          <a:xfrm>
            <a:off x="3845082" y="1471723"/>
            <a:ext cx="4077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</a:t>
            </a:r>
            <a:r>
              <a:rPr lang="en-US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parent view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clear view of progress and where to help next.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22E9A4-D3CE-4C0D-15DE-D2ADFCFA1A25}"/>
              </a:ext>
            </a:extLst>
          </p:cNvPr>
          <p:cNvSpPr txBox="1"/>
          <p:nvPr/>
        </p:nvSpPr>
        <p:spPr>
          <a:xfrm>
            <a:off x="3132280" y="3573167"/>
            <a:ext cx="396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</a:t>
            </a:r>
            <a:r>
              <a:rPr lang="en-US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family's privacy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control of your family's data.</a:t>
            </a:r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1650DCD-A9C4-FCB3-7944-061E8CD9FB42}"/>
              </a:ext>
            </a:extLst>
          </p:cNvPr>
          <p:cNvSpPr/>
          <p:nvPr/>
        </p:nvSpPr>
        <p:spPr>
          <a:xfrm>
            <a:off x="502919" y="619171"/>
            <a:ext cx="4627539" cy="650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to parents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7CB784-FEC3-53D2-5FE2-01E43C14639B}"/>
              </a:ext>
            </a:extLst>
          </p:cNvPr>
          <p:cNvSpPr/>
          <p:nvPr/>
        </p:nvSpPr>
        <p:spPr>
          <a:xfrm>
            <a:off x="1303480" y="2557677"/>
            <a:ext cx="3657600" cy="923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⭐ </a:t>
            </a:r>
            <a:r>
              <a:rPr lang="en-US" sz="1600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child's learning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i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patient tutor that teaches, not just answers.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3A098-84AE-6C45-DB2A-4AF8F724C7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5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52916"/>
            <a:ext cx="4480560" cy="3037668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806233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 that teaches — never just answers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2117872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Mr.Cadabra</a:t>
            </a: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explains out loud, draws every step, and asks the next question instead of giving the answer.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6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math-only and won't be talked off topic — even when kids try.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B162A-1BD2-D5A5-2EAC-BDC0238315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9200"/>
            <a:ext cx="4480560" cy="2885100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88421" y="968884"/>
            <a:ext cx="3417340" cy="779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matters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88421" y="2002620"/>
            <a:ext cx="34173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parent code opens a read-only dashboard with your child's progress, where help is needed next, and real scores from real checks.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331C8-779E-3367-A9C6-C33273A16C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time, honest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383592"/>
            <a:ext cx="8138160" cy="632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counts only when your child is actually working — walk away or switch tabs and the clock stops. </a:t>
            </a:r>
          </a:p>
        </p:txBody>
      </p:sp>
      <p:pic>
        <p:nvPicPr>
          <p:cNvPr id="4" name="Image 0" descr="/home/claude/mytutor/static/shots/time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8229600" cy="1224643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E3FD2-B848-9BA2-201F-538675E08D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9B55D-5CC4-C542-1813-9A7A49D3AB7C}"/>
              </a:ext>
            </a:extLst>
          </p:cNvPr>
          <p:cNvSpPr txBox="1"/>
          <p:nvPr/>
        </p:nvSpPr>
        <p:spPr>
          <a:xfrm>
            <a:off x="502920" y="2097670"/>
            <a:ext cx="5733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"42 minutes today" means 42 minutes of math.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promises we can keep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3679" y="1645920"/>
            <a:ext cx="2556313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0163" y="2022370"/>
            <a:ext cx="21008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</a:t>
            </a:r>
            <a:r>
              <a:rPr 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6705" y="2762432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recordings are discarded after each task is evaluated.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12632" y="1650220"/>
            <a:ext cx="2556313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82274" y="2015209"/>
            <a:ext cx="18866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r>
              <a:rPr lang="en-US" sz="1600" b="1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sold, no ads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593592" y="2757115"/>
            <a:ext cx="2221992" cy="132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sell student data. Children are never asked for an email, phone number, photos, or location.</a:t>
            </a:r>
          </a:p>
        </p:txBody>
      </p:sp>
      <p:sp>
        <p:nvSpPr>
          <p:cNvPr id="11" name="Shape 9"/>
          <p:cNvSpPr/>
          <p:nvPr/>
        </p:nvSpPr>
        <p:spPr>
          <a:xfrm>
            <a:off x="6158484" y="1650220"/>
            <a:ext cx="2482596" cy="2651760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34699" y="1999483"/>
            <a:ext cx="15747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the keys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2784" y="284758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control the account—and if you ever want your child's data deleted, just let us know</a:t>
            </a: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E67105-2EB1-7C8F-6C52-70E6E177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  <p:pic>
        <p:nvPicPr>
          <p:cNvPr id="17" name="Graphic 16" descr="Radio microphone">
            <a:extLst>
              <a:ext uri="{FF2B5EF4-FFF2-40B4-BE49-F238E27FC236}">
                <a16:creationId xmlns:a16="http://schemas.microsoft.com/office/drawing/2014/main" id="{58FD0D0B-AC03-0424-C0F5-531849B17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087" y="2068602"/>
            <a:ext cx="457200" cy="4572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AB3B4A-55D9-1C19-6CE0-E7CCF4BC9C11}"/>
              </a:ext>
            </a:extLst>
          </p:cNvPr>
          <p:cNvCxnSpPr>
            <a:cxnSpLocks/>
          </p:cNvCxnSpPr>
          <p:nvPr/>
        </p:nvCxnSpPr>
        <p:spPr>
          <a:xfrm>
            <a:off x="513905" y="2068602"/>
            <a:ext cx="437382" cy="3280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8A7535-9D59-A364-9F01-9FA77BAC842A}"/>
              </a:ext>
            </a:extLst>
          </p:cNvPr>
          <p:cNvCxnSpPr>
            <a:cxnSpLocks/>
          </p:cNvCxnSpPr>
          <p:nvPr/>
        </p:nvCxnSpPr>
        <p:spPr>
          <a:xfrm flipV="1">
            <a:off x="513905" y="2068602"/>
            <a:ext cx="437382" cy="3280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Graphic 24" descr="Lock">
            <a:extLst>
              <a:ext uri="{FF2B5EF4-FFF2-40B4-BE49-F238E27FC236}">
                <a16:creationId xmlns:a16="http://schemas.microsoft.com/office/drawing/2014/main" id="{FEF03063-1699-BE00-A7EA-98B647E8D1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7755" y="1979611"/>
            <a:ext cx="496944" cy="496944"/>
          </a:xfrm>
          <a:prstGeom prst="rect">
            <a:avLst/>
          </a:prstGeom>
        </p:spPr>
      </p:pic>
      <p:pic>
        <p:nvPicPr>
          <p:cNvPr id="27" name="Graphic 26" descr="No sign">
            <a:extLst>
              <a:ext uri="{FF2B5EF4-FFF2-40B4-BE49-F238E27FC236}">
                <a16:creationId xmlns:a16="http://schemas.microsoft.com/office/drawing/2014/main" id="{5EBA740D-0ED1-A190-D961-20D621FB01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181" y="1979655"/>
            <a:ext cx="499915" cy="499915"/>
          </a:xfrm>
          <a:prstGeom prst="rect">
            <a:avLst/>
          </a:prstGeom>
        </p:spPr>
      </p:pic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E39EA9C8-7F81-B4F7-0FF3-7B2F8CBE79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3939" y="1232676"/>
            <a:ext cx="731520" cy="731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5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75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5410" y="664674"/>
            <a:ext cx="7863840" cy="103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</a:t>
            </a:r>
            <a:r>
              <a:rPr lang="en-US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Mr.Cadabra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action.</a:t>
            </a:r>
          </a:p>
        </p:txBody>
      </p:sp>
      <p:sp>
        <p:nvSpPr>
          <p:cNvPr id="4" name="Text 1"/>
          <p:cNvSpPr/>
          <p:nvPr/>
        </p:nvSpPr>
        <p:spPr>
          <a:xfrm>
            <a:off x="631103" y="2805409"/>
            <a:ext cx="8241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Watch one short lesson and see if it's right for your family.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0768" y="3652633"/>
            <a:ext cx="36620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mrcadabra.com/demo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22D49-57C3-DF41-5D97-EE3334A22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404037" y="297180"/>
            <a:ext cx="2542746" cy="2017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2095B4-04DA-932A-C253-B79C1299C952}"/>
              </a:ext>
            </a:extLst>
          </p:cNvPr>
          <p:cNvSpPr txBox="1"/>
          <p:nvPr/>
        </p:nvSpPr>
        <p:spPr>
          <a:xfrm>
            <a:off x="777194" y="2121226"/>
            <a:ext cx="205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 </a:t>
            </a:r>
            <a:r>
              <a:rPr lang="en-US" sz="1200" dirty="0">
                <a:solidFill>
                  <a:prstClr val="white"/>
                </a:solidFill>
                <a:latin typeface="Century Gothic" panose="020B0502020202020204"/>
              </a:rPr>
              <a:t>  </a:t>
            </a:r>
            <a:r>
              <a:rPr lang="en-US" sz="1200" dirty="0">
                <a:solidFill>
                  <a:srgbClr val="002060"/>
                </a:solidFill>
                <a:latin typeface="Century Gothic" panose="020B0502020202020204"/>
                <a:ea typeface="Calibri" panose="020F0502020204030204" pitchFamily="34" charset="0"/>
                <a:cs typeface="Calibri" panose="020F0502020204030204" pitchFamily="34" charset="0"/>
              </a:rPr>
              <a:t>AI-Powered Tutor  </a:t>
            </a:r>
            <a:r>
              <a:rPr lang="en-US" sz="1200" dirty="0">
                <a:solidFill>
                  <a:srgbClr val="EFB251"/>
                </a:solidFill>
                <a:latin typeface="Century Gothic" panose="020B0502020202020204"/>
              </a:rPr>
              <a:t>—</a:t>
            </a:r>
            <a:endParaRPr lang="en-US" sz="1200" dirty="0">
              <a:solidFill>
                <a:srgbClr val="EFB251"/>
              </a:solidFill>
              <a:latin typeface="Century Gothic" panose="020B0502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5187</TotalTime>
  <Words>536</Words>
  <Application>Microsoft Office PowerPoint</Application>
  <PresentationFormat>On-screen Show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Century Gothic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Erika Simo</cp:lastModifiedBy>
  <cp:revision>39</cp:revision>
  <dcterms:created xsi:type="dcterms:W3CDTF">2026-07-31T01:05:45Z</dcterms:created>
  <dcterms:modified xsi:type="dcterms:W3CDTF">2026-08-10T16:52:50Z</dcterms:modified>
</cp:coreProperties>
</file>