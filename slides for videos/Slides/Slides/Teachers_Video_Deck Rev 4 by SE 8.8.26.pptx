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9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2572" y="-41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81C1B3-E4F7-D979-1C22-2BD5BA5F2F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EE2918-3F38-8C09-C178-2044F851A6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263A5-9BAA-424D-921B-8C402D4C95D6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5D79F8-F617-948C-9FAC-DAB983AC8B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4546B-8DE4-FD8F-27ED-49E532C214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0D2E8-4D55-4374-95D7-875295AC1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933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teach math to more than one student — a co-op, a microschool, or a classroom — see how Mr. Cadabra provides personalized tutoring for each student while you keep the big-picture view of the class.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6FF55-0CF1-A6A8-E2B2-976F1751BCB5}"/>
              </a:ext>
            </a:extLst>
          </p:cNvPr>
          <p:cNvSpPr txBox="1"/>
          <p:nvPr/>
        </p:nvSpPr>
        <p:spPr>
          <a:xfrm>
            <a:off x="1176689" y="-10193609"/>
            <a:ext cx="2642134" cy="294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1 — See your whole class at a glance.**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you teach math to more than one student — a co-op, a microschool, or a classroom — here's what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Mr.Cadabra</a:t>
            </a: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looks like from the front of the room.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2 — Every student, tutored one-on-one.**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Every student in your class gets the same patient one-on-one tutor, working at their own placed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level. That means intervention without stigma — a ninth grader can quietly rebuild fractions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without ever seeing a grade level on screen.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3 — The mastery heatmap.**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This is your classroom view: the mastery heatmap. Every cell is a student's best real check score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 a unit — gold stars mean mastered. And "needs attention" names the unit your whole class is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weakest on, so you know exactly what to reteach.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4 — Drill into any student.**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Click any name and you get that student's full dashboard — their units, their accuracy, their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streak, and honest time-on-task where idle minutes never count. It's the picture you'd build by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hand, already built.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5 — Built for real classrooms.**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It's built for the realities of a classroom. You add students by code — no student emails, no new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personal data. There are no microphones to manage; headphones are all you need. And the built-in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course assessment maps each student's strengths for you.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6 — Pilot it free this term.**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We're partnering with a limited number of classrooms this term: you get </a:t>
            </a:r>
            <a:r>
              <a:rPr lang="en-US" sz="18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Mr.Cadabra</a:t>
            </a: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free for the pilot,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 get your honest feedback. Email support@mrcadabra.com and tell us about your class.</a:t>
            </a:r>
            <a:br>
              <a:rPr lang="en-US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kern="1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in your class gets the same patient one-on-one tutor, working at their own pace. That means intervention without stigma.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classroom view: the mastery heatmap. Every cell is a student’s best score on a unit. ‘Needs attention' names the unit your whole class is weakest on, so you know exactly what to reteach.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name, and you get that student's full dashboard — their units, their accuracy, their streak, and time-on-task where idle minutes never count.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built for the realities of a classroom. You add students by code — no student emails, no new personal data. There are no microphones to manage; headphones are all you need.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partnering with a limited number of classrooms this term: you get </a:t>
            </a:r>
            <a:r>
              <a:rPr lang="en-US"/>
              <a:t>Mister Cadabra free </a:t>
            </a:r>
            <a:r>
              <a:rPr lang="en-US" dirty="0"/>
              <a:t>for the pilot, we get your honest feedback. Email support at Mister Cadabra dot com and tell us about your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900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13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722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463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2488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5093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37488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2350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331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176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6070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9808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5088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4164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18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8/8/2026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18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126" y="2533852"/>
            <a:ext cx="8852786" cy="1055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Tutoring for Every Student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87400" y="3340541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Classroom Insight for Every Teacher</a:t>
            </a:r>
          </a:p>
        </p:txBody>
      </p:sp>
      <p:sp>
        <p:nvSpPr>
          <p:cNvPr id="6" name="Text 3"/>
          <p:cNvSpPr/>
          <p:nvPr/>
        </p:nvSpPr>
        <p:spPr>
          <a:xfrm>
            <a:off x="505811" y="4194388"/>
            <a:ext cx="5146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000F1E-381C-5B1D-E90B-DA0B6CD77C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354941" y="385611"/>
            <a:ext cx="2466754" cy="1956922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98C91B-B4D6-1540-239E-BC221D84CD0E}"/>
              </a:ext>
            </a:extLst>
          </p:cNvPr>
          <p:cNvSpPr/>
          <p:nvPr/>
        </p:nvSpPr>
        <p:spPr>
          <a:xfrm>
            <a:off x="2675784" y="578698"/>
            <a:ext cx="5818845" cy="348039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50EA3-1D45-A771-3EBF-C45C9FEDAB5B}"/>
              </a:ext>
            </a:extLst>
          </p:cNvPr>
          <p:cNvSpPr txBox="1"/>
          <p:nvPr/>
        </p:nvSpPr>
        <p:spPr>
          <a:xfrm>
            <a:off x="2586713" y="583352"/>
            <a:ext cx="590177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 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CO-OPS 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MICROSCHOOLS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8034-DC08-1AE6-44A3-2345B6E46803}"/>
              </a:ext>
            </a:extLst>
          </p:cNvPr>
          <p:cNvSpPr txBox="1"/>
          <p:nvPr/>
        </p:nvSpPr>
        <p:spPr>
          <a:xfrm>
            <a:off x="115796" y="2157855"/>
            <a:ext cx="3129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— </a:t>
            </a:r>
            <a:r>
              <a:rPr lang="en-US" sz="1400" dirty="0"/>
              <a:t>  </a:t>
            </a:r>
            <a:r>
              <a:rPr lang="en-US" sz="1400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AI-Powered  Tutor  </a:t>
            </a:r>
            <a:r>
              <a:rPr lang="en-US" sz="1400" dirty="0">
                <a:solidFill>
                  <a:schemeClr val="accent4"/>
                </a:solidFill>
              </a:rPr>
              <a:t>—</a:t>
            </a:r>
            <a:endParaRPr lang="en-US" sz="1400" dirty="0">
              <a:solidFill>
                <a:schemeClr val="accent4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5" grpId="0" animBg="1"/>
      <p:bldP spid="1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511" y="908789"/>
            <a:ext cx="4809045" cy="3260370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03865" y="843867"/>
            <a:ext cx="214692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is tutored one-on-one</a:t>
            </a:r>
            <a:endParaRPr 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79317" y="2970265"/>
            <a:ext cx="3400894" cy="1219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Cadabra, your AI-powered math tutor, teaches each student individually — out loud, Socratically, at their own pace.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AA5778-FB93-AE58-D05C-BEF6BB9471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8" name="Graphic 7" descr="Professor">
            <a:extLst>
              <a:ext uri="{FF2B5EF4-FFF2-40B4-BE49-F238E27FC236}">
                <a16:creationId xmlns:a16="http://schemas.microsoft.com/office/drawing/2014/main" id="{051CCBC6-F6AE-FB5D-898B-A5B2731364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50787" y="989410"/>
            <a:ext cx="1080074" cy="1080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allAtOnce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43" y="1070859"/>
            <a:ext cx="4595939" cy="3193842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243962" y="1017914"/>
            <a:ext cx="194600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mastery heatmap</a:t>
            </a:r>
          </a:p>
        </p:txBody>
      </p:sp>
      <p:sp>
        <p:nvSpPr>
          <p:cNvPr id="4" name="Text 1"/>
          <p:cNvSpPr/>
          <p:nvPr/>
        </p:nvSpPr>
        <p:spPr>
          <a:xfrm>
            <a:off x="5299024" y="2199922"/>
            <a:ext cx="3422333" cy="2064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 score per unit, for each student.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7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"Needs attention" names the unit your class is weakest on.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7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scores, not participation points</a:t>
            </a:r>
            <a:r>
              <a:rPr lang="en-US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19D1A-A327-1485-28A1-4A71A0FD1E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9" name="Graphic 8" descr="Gauge">
            <a:extLst>
              <a:ext uri="{FF2B5EF4-FFF2-40B4-BE49-F238E27FC236}">
                <a16:creationId xmlns:a16="http://schemas.microsoft.com/office/drawing/2014/main" id="{C0F9DA21-90C4-58A2-4E96-03AC7134B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5030" y="900219"/>
            <a:ext cx="1308779" cy="1308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918" y="818971"/>
            <a:ext cx="4557010" cy="3321436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555507"/>
            <a:ext cx="209787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student</a:t>
            </a:r>
            <a:endParaRPr 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42959" y="1910948"/>
            <a:ext cx="3312077" cy="2318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opens any student's full dashboard: units, accuracy, streak, time on task. </a:t>
            </a:r>
          </a:p>
          <a:p>
            <a:pPr>
              <a:lnSpc>
                <a:spcPct val="115000"/>
              </a:lnSpc>
            </a:pPr>
            <a:endParaRPr lang="en-US" sz="17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17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course assessment maps each student's strengths for you.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994E2-33A4-A1E2-5EAF-52250E77B0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9" name="Graphic 8" descr="School girl">
            <a:extLst>
              <a:ext uri="{FF2B5EF4-FFF2-40B4-BE49-F238E27FC236}">
                <a16:creationId xmlns:a16="http://schemas.microsoft.com/office/drawing/2014/main" id="{D16684B5-98D7-C29C-04B1-5158C9A61B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41179" y="732002"/>
            <a:ext cx="1178946" cy="1178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7126" y="517910"/>
            <a:ext cx="528733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Classrooms</a:t>
            </a:r>
            <a:endParaRPr lang="en-US" sz="2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2564892" cy="2651760"/>
          </a:xfrm>
          <a:prstGeom prst="roundRect">
            <a:avLst>
              <a:gd name="adj" fmla="val 4138"/>
            </a:avLst>
          </a:prstGeom>
          <a:solidFill>
            <a:schemeClr val="tx1">
              <a:lumMod val="95000"/>
            </a:schemeClr>
          </a:solidFill>
          <a:ln w="12700">
            <a:noFill/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5515" y="1931129"/>
            <a:ext cx="6522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6869" y="1993129"/>
            <a:ext cx="1726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by code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291841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students with their login codes — no student emails, no new personal data collected</a:t>
            </a:r>
            <a:r>
              <a:rPr lang="en-US" sz="14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4674" y="1645920"/>
            <a:ext cx="2793492" cy="2651760"/>
          </a:xfrm>
          <a:prstGeom prst="roundRect">
            <a:avLst>
              <a:gd name="adj" fmla="val 4138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0701" y="2136649"/>
            <a:ext cx="2315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</a:t>
            </a:r>
            <a:r>
              <a:rPr lang="en-US" b="1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kept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3274" y="2772708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talks; students type or click. Headphones are all your room needs.</a:t>
            </a:r>
            <a:endParaRPr lang="en-US" sz="1600" dirty="0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0748" y="1645920"/>
            <a:ext cx="2679192" cy="2651760"/>
          </a:xfrm>
          <a:prstGeom prst="roundRect">
            <a:avLst>
              <a:gd name="adj" fmla="val 4138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83751" y="1931129"/>
            <a:ext cx="6352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94945" y="2026053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included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01384" y="2906922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course assessment maps each student's strengths and recommends a path.</a:t>
            </a:r>
            <a:endParaRPr lang="en-US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F972B4-7DBC-01BC-8D04-DE6F68525D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42" t="16465" r="26058" b="27219"/>
          <a:stretch>
            <a:fillRect/>
          </a:stretch>
        </p:blipFill>
        <p:spPr>
          <a:xfrm>
            <a:off x="7855122" y="4366437"/>
            <a:ext cx="831678" cy="650513"/>
          </a:xfrm>
          <a:prstGeom prst="rect">
            <a:avLst/>
          </a:prstGeom>
        </p:spPr>
      </p:pic>
      <p:pic>
        <p:nvPicPr>
          <p:cNvPr id="17" name="Graphic 16" descr="Classroom">
            <a:extLst>
              <a:ext uri="{FF2B5EF4-FFF2-40B4-BE49-F238E27FC236}">
                <a16:creationId xmlns:a16="http://schemas.microsoft.com/office/drawing/2014/main" id="{D41A0193-D702-DA73-60C9-8A3558943F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571500"/>
            <a:ext cx="949926" cy="949926"/>
          </a:xfrm>
          <a:prstGeom prst="rect">
            <a:avLst/>
          </a:prstGeom>
        </p:spPr>
      </p:pic>
      <p:pic>
        <p:nvPicPr>
          <p:cNvPr id="18" name="Graphic 17" descr="Paperclip">
            <a:extLst>
              <a:ext uri="{FF2B5EF4-FFF2-40B4-BE49-F238E27FC236}">
                <a16:creationId xmlns:a16="http://schemas.microsoft.com/office/drawing/2014/main" id="{2C7C06B9-BA08-E887-631D-1931C3AECB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6779" y="1215189"/>
            <a:ext cx="914400" cy="914400"/>
          </a:xfrm>
          <a:prstGeom prst="rect">
            <a:avLst/>
          </a:prstGeom>
        </p:spPr>
      </p:pic>
      <p:pic>
        <p:nvPicPr>
          <p:cNvPr id="19" name="Graphic 18" descr="Radio microphone">
            <a:extLst>
              <a:ext uri="{FF2B5EF4-FFF2-40B4-BE49-F238E27FC236}">
                <a16:creationId xmlns:a16="http://schemas.microsoft.com/office/drawing/2014/main" id="{3F3D9D0F-E894-E326-6E10-4FEFA76867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22328" y="2024971"/>
            <a:ext cx="457200" cy="45720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CFF937-D230-D074-A374-E21BA390A9A3}"/>
              </a:ext>
            </a:extLst>
          </p:cNvPr>
          <p:cNvCxnSpPr>
            <a:cxnSpLocks/>
          </p:cNvCxnSpPr>
          <p:nvPr/>
        </p:nvCxnSpPr>
        <p:spPr>
          <a:xfrm>
            <a:off x="3386518" y="2068602"/>
            <a:ext cx="322504" cy="3172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2AB92B-B4EC-1312-9C98-B2D4381E4A0C}"/>
              </a:ext>
            </a:extLst>
          </p:cNvPr>
          <p:cNvCxnSpPr>
            <a:cxnSpLocks/>
          </p:cNvCxnSpPr>
          <p:nvPr/>
        </p:nvCxnSpPr>
        <p:spPr>
          <a:xfrm flipV="1">
            <a:off x="3374091" y="2068602"/>
            <a:ext cx="350096" cy="3172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5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750"/>
                            </p:stCondLst>
                            <p:childTnLst>
                              <p:par>
                                <p:cTn id="62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8194" y="541642"/>
            <a:ext cx="4911150" cy="903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it for free now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10282" y="2528370"/>
            <a:ext cx="6949440" cy="11667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Mr.Cadabra for free this term and provide us with your valuable feedback to help us improve. </a:t>
            </a:r>
          </a:p>
        </p:txBody>
      </p:sp>
      <p:sp>
        <p:nvSpPr>
          <p:cNvPr id="5" name="Text 2"/>
          <p:cNvSpPr/>
          <p:nvPr/>
        </p:nvSpPr>
        <p:spPr>
          <a:xfrm>
            <a:off x="810282" y="3762103"/>
            <a:ext cx="6949440" cy="772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request to: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support@mrcadabra.com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24541-839B-6A72-1F40-665B3D02A6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82" t="17099" r="22914" b="22091"/>
          <a:stretch>
            <a:fillRect/>
          </a:stretch>
        </p:blipFill>
        <p:spPr>
          <a:xfrm>
            <a:off x="423927" y="541642"/>
            <a:ext cx="2870790" cy="2096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E01D9C-551B-2D69-9B09-7F00FDCB2742}"/>
              </a:ext>
            </a:extLst>
          </p:cNvPr>
          <p:cNvSpPr txBox="1"/>
          <p:nvPr/>
        </p:nvSpPr>
        <p:spPr>
          <a:xfrm>
            <a:off x="423927" y="2224582"/>
            <a:ext cx="3000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accent4"/>
                </a:solidFill>
              </a:rPr>
              <a:t>— </a:t>
            </a:r>
            <a:r>
              <a:rPr lang="en-US" sz="1400" dirty="0"/>
              <a:t>  </a:t>
            </a:r>
            <a:r>
              <a:rPr lang="en-US" sz="1400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AI-Powered  Tutor  </a:t>
            </a:r>
            <a:r>
              <a:rPr lang="en-US" sz="1400" dirty="0">
                <a:solidFill>
                  <a:schemeClr val="accent4"/>
                </a:solidFill>
              </a:rPr>
              <a:t>—</a:t>
            </a:r>
            <a:endParaRPr lang="en-US" sz="1400" dirty="0">
              <a:solidFill>
                <a:schemeClr val="accent4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5842</TotalTime>
  <Words>781</Words>
  <Application>Microsoft Office PowerPoint</Application>
  <PresentationFormat>On-screen Show (16:9)</PresentationFormat>
  <Paragraphs>44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Century Gothic</vt:lpstr>
      <vt:lpstr>Consolas</vt:lpstr>
      <vt:lpstr>Courier New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Erika Simo</cp:lastModifiedBy>
  <cp:revision>39</cp:revision>
  <dcterms:created xsi:type="dcterms:W3CDTF">2026-07-31T01:05:45Z</dcterms:created>
  <dcterms:modified xsi:type="dcterms:W3CDTF">2026-08-09T00:54:21Z</dcterms:modified>
</cp:coreProperties>
</file>