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9"/>
  </p:notesMasterIdLst>
  <p:sldIdLst>
    <p:sldId id="262" r:id="rId2"/>
    <p:sldId id="257" r:id="rId3"/>
    <p:sldId id="264" r:id="rId4"/>
    <p:sldId id="258" r:id="rId5"/>
    <p:sldId id="259" r:id="rId6"/>
    <p:sldId id="260" r:id="rId7"/>
    <p:sldId id="261"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varScale="1">
        <p:scale>
          <a:sx n="104" d="100"/>
          <a:sy n="104" d="100"/>
        </p:scale>
        <p:origin x="72" y="304"/>
      </p:cViewPr>
      <p:guideLst/>
    </p:cSldViewPr>
  </p:slideViewPr>
  <p:notesTextViewPr>
    <p:cViewPr>
      <p:scale>
        <a:sx n="1" d="1"/>
        <a:sy n="1" d="1"/>
      </p:scale>
      <p:origin x="0" y="-28"/>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36095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Homeschooling math is a big job. Mister Cadabra is a patient, personal math tutor for every homeschool student. And while it teaches, it automatically keeps the homeschool records you'll need.</a:t>
            </a:r>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15C6FF55-0CF1-A6A8-E2B2-976F1751BCB5}"/>
              </a:ext>
            </a:extLst>
          </p:cNvPr>
          <p:cNvSpPr txBox="1"/>
          <p:nvPr/>
        </p:nvSpPr>
        <p:spPr>
          <a:xfrm>
            <a:off x="1176689" y="-10193609"/>
            <a:ext cx="2642134" cy="2945421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t>**Slide 1 — See your whole class at a glance.**</a:t>
            </a:r>
            <a:b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br>
            <a: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t>If you teach math to more than one student — a co-op, a microschool, or a classroom — here's what</a:t>
            </a:r>
            <a:b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br>
            <a:r>
              <a:rPr kumimoji="0" lang="en-US" sz="1800" b="0" i="0" u="none" strike="noStrike" kern="100" cap="none" spc="0" normalizeH="0" baseline="0" noProof="0" dirty="0" err="1">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t>Mr.Cadabra</a:t>
            </a:r>
            <a: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t> looks like from the front of the room.</a:t>
            </a:r>
            <a:b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br>
            <a:b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br>
            <a: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t>**Slide 2 — Every student, tutored one-on-one.**</a:t>
            </a:r>
            <a:b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br>
            <a: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t>Every student in your class gets the same patient one-on-one tutor, working at their own placed</a:t>
            </a:r>
            <a:b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br>
            <a: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t>level. That means intervention without stigma — a ninth grader can quietly rebuild fractions</a:t>
            </a:r>
            <a:b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br>
            <a: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t>without ever seeing a grade level on screen.</a:t>
            </a:r>
            <a:b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br>
            <a:b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br>
            <a: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t>**Slide 3 — The mastery heatmap.**</a:t>
            </a:r>
            <a:b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br>
            <a: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t>This is your classroom view: the mastery heatmap. Every cell is a student's best real check score</a:t>
            </a:r>
            <a:b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br>
            <a: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t>on a unit — gold stars mean mastered. And "needs attention" names the unit your whole class is</a:t>
            </a:r>
            <a:b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br>
            <a: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t>weakest on, so you know exactly what to reteach.</a:t>
            </a:r>
            <a:b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br>
            <a:b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br>
            <a: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t>**Slide 4 — Drill into any student.**</a:t>
            </a:r>
            <a:b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br>
            <a: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t>Click any name and you get that student's full dashboard — their units, their accuracy, their</a:t>
            </a:r>
            <a:b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br>
            <a: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t>streak, and honest time-on-task where idle minutes never count. It's the picture you'd build by</a:t>
            </a:r>
            <a:b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br>
            <a: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t>hand, already built.</a:t>
            </a:r>
            <a:b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br>
            <a:b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br>
            <a: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t>**Slide 5 — Built for real classrooms.**</a:t>
            </a:r>
            <a:b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br>
            <a: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t>It's built for the realities of a classroom. You add students by code — no student emails, no new</a:t>
            </a:r>
            <a:b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br>
            <a: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t>personal data. There are no microphones to manage; headphones are all you need. And the built-in</a:t>
            </a:r>
            <a:b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br>
            <a: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t>course assessment maps each student's strengths for you.</a:t>
            </a:r>
            <a:b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br>
            <a:b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br>
            <a: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t>**Slide 6 — Pilot it free this term.**</a:t>
            </a:r>
            <a:b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br>
            <a: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t>We're partnering with a limited number of classrooms this term: you get </a:t>
            </a:r>
            <a:r>
              <a:rPr kumimoji="0" lang="en-US" sz="1800" b="0" i="0" u="none" strike="noStrike" kern="100" cap="none" spc="0" normalizeH="0" baseline="0" noProof="0" dirty="0" err="1">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t>Mr.Cadabra</a:t>
            </a:r>
            <a: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t> free for the pilot,</a:t>
            </a:r>
            <a:b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br>
            <a: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t>we get your honest feedback. Email support@mrcadabra.com and tell us about your class.</a:t>
            </a:r>
            <a:br>
              <a:rPr kumimoji="0" lang="en-US" sz="1800" b="0" i="0" u="none" strike="noStrike" kern="100" cap="none" spc="0" normalizeH="0" baseline="0" noProof="0" dirty="0">
                <a:ln>
                  <a:noFill/>
                </a:ln>
                <a:solidFill>
                  <a:prstClr val="black"/>
                </a:solidFill>
                <a:effectLst/>
                <a:uLnTx/>
                <a:uFillTx/>
                <a:latin typeface="Courier New" panose="02070309020205020404" pitchFamily="49" charset="0"/>
                <a:ea typeface="Calibri" panose="020F0502020204030204" pitchFamily="34" charset="0"/>
                <a:cs typeface="Times New Roman" panose="02020603050405020304" pitchFamily="18" charset="0"/>
              </a:rPr>
            </a:br>
            <a:endParaRPr kumimoji="0" lang="en-US" sz="1800" b="0" i="0" u="none" strike="noStrike" kern="100" cap="none" spc="0" normalizeH="0" baseline="0" noProof="0" dirty="0">
              <a:ln>
                <a:noFill/>
              </a:ln>
              <a:solidFill>
                <a:prstClr val="black"/>
              </a:solidFill>
              <a:effectLst/>
              <a:uLnTx/>
              <a:uFillTx/>
              <a:latin typeface="Consolas" panose="020B0609020204030204" pitchFamily="49"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Mister Cadabra teaches every lesson out loud, one step at a time, across ten complete courses — from Introductory Math through Calculus.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E29E1-A55C-71F3-2C87-9B994F401C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18ECEA-25E3-ABE2-4DE4-E4B133E800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CF5C8A-A112-C707-AB6C-E970792C7323}"/>
              </a:ext>
            </a:extLst>
          </p:cNvPr>
          <p:cNvSpPr>
            <a:spLocks noGrp="1"/>
          </p:cNvSpPr>
          <p:nvPr>
            <p:ph type="body" idx="1"/>
          </p:nvPr>
        </p:nvSpPr>
        <p:spPr/>
        <p:txBody>
          <a:bodyPr/>
          <a:lstStyle/>
          <a:p>
            <a:r>
              <a:rPr lang="en-US" dirty="0"/>
              <a:t>A placement test finds where your student starts, and periodic exams verify when they're ready to move on.</a:t>
            </a:r>
          </a:p>
        </p:txBody>
      </p:sp>
      <p:sp>
        <p:nvSpPr>
          <p:cNvPr id="4" name="Slide Number Placeholder 3">
            <a:extLst>
              <a:ext uri="{FF2B5EF4-FFF2-40B4-BE49-F238E27FC236}">
                <a16:creationId xmlns:a16="http://schemas.microsoft.com/office/drawing/2014/main" id="{EBFEC48F-49E8-A431-7D31-0F8458476B5C}"/>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340623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every lesson, your read-only parent view shows what's mastered, what needs work, and where to help next.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homeschool families need to log instructional hours. Mr. Cadabra keeps that record automatically, counting only the time your child is actively learning.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Mister Cadabra keeps your instructional hours, creates printable course plans, and documents your child's progress with real assessment results. You stay in control—we'll keep the records organized.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Ready to meet Mister Cadabra? Try your first lesson free—no credit card or microphone is required. Become one of our first homeschool families to receive introductory pricing and help shape what's next. Visit MisterCadabra.com slash homeschool to get started.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2381"/>
            <a:ext cx="9144000" cy="3902869"/>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607501" y="1086861"/>
            <a:ext cx="7929000" cy="2228288"/>
          </a:xfrm>
        </p:spPr>
        <p:txBody>
          <a:bodyPr/>
          <a:lstStyle>
            <a:lvl1pPr>
              <a:defRPr sz="4050"/>
            </a:lvl1pPr>
          </a:lstStyle>
          <a:p>
            <a:r>
              <a:rPr lang="en-US"/>
              <a:t>Click to edit Master title style</a:t>
            </a:r>
            <a:endParaRPr lang="en-US" dirty="0"/>
          </a:p>
        </p:txBody>
      </p:sp>
      <p:sp>
        <p:nvSpPr>
          <p:cNvPr id="3" name="Subtitle 2"/>
          <p:cNvSpPr>
            <a:spLocks noGrp="1"/>
          </p:cNvSpPr>
          <p:nvPr>
            <p:ph type="subTitle" idx="1"/>
          </p:nvPr>
        </p:nvSpPr>
        <p:spPr>
          <a:xfrm>
            <a:off x="607501" y="3960635"/>
            <a:ext cx="7929000" cy="326231"/>
          </a:xfrm>
        </p:spPr>
        <p:txBody>
          <a:bodyPr anchor="t"/>
          <a:lstStyle>
            <a:lvl1pPr marL="0" indent="0" algn="l">
              <a:buNone/>
              <a:defRPr>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8B9EBBA-996F-894A-B54A-D6246ED52CEA}" type="datetimeFigureOut">
              <a:rPr lang="en-US" dirty="0"/>
              <a:pPr/>
              <a:t>8/6/2026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6239577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9144000" cy="1639491"/>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607500" y="335391"/>
            <a:ext cx="7928999" cy="727838"/>
          </a:xfrm>
        </p:spPr>
        <p:txBody>
          <a:bodyPr/>
          <a:lstStyle/>
          <a:p>
            <a:r>
              <a:rPr lang="en-US"/>
              <a:t>Click to edit Master title style</a:t>
            </a:r>
            <a:endParaRPr lang="en-US" dirty="0"/>
          </a:p>
        </p:txBody>
      </p:sp>
      <p:sp>
        <p:nvSpPr>
          <p:cNvPr id="3" name="Content Placeholder 2"/>
          <p:cNvSpPr>
            <a:spLocks noGrp="1"/>
          </p:cNvSpPr>
          <p:nvPr>
            <p:ph idx="1"/>
          </p:nvPr>
        </p:nvSpPr>
        <p:spPr>
          <a:xfrm>
            <a:off x="614034" y="1666716"/>
            <a:ext cx="7915931" cy="27273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3A1323-8D79-1946-B0D7-40001CF92E9D}" type="datetimeFigureOut">
              <a:rPr lang="en-US" dirty="0"/>
              <a:pPr/>
              <a:t>8/6/2026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62738094"/>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9144000" cy="3902869"/>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607500" y="2213547"/>
            <a:ext cx="7921064" cy="1101600"/>
          </a:xfrm>
        </p:spPr>
        <p:txBody>
          <a:bodyPr anchor="b"/>
          <a:lstStyle>
            <a:lvl1pPr algn="r">
              <a:defRPr sz="3600" b="1" cap="none"/>
            </a:lvl1pPr>
          </a:lstStyle>
          <a:p>
            <a:r>
              <a:rPr lang="en-US"/>
              <a:t>Click to edit Master title style</a:t>
            </a:r>
            <a:endParaRPr lang="en-US" dirty="0"/>
          </a:p>
        </p:txBody>
      </p:sp>
      <p:sp>
        <p:nvSpPr>
          <p:cNvPr id="3" name="Text Placeholder 2"/>
          <p:cNvSpPr>
            <a:spLocks noGrp="1"/>
          </p:cNvSpPr>
          <p:nvPr>
            <p:ph type="body" idx="1"/>
          </p:nvPr>
        </p:nvSpPr>
        <p:spPr>
          <a:xfrm>
            <a:off x="607500" y="3960901"/>
            <a:ext cx="7921064" cy="325466"/>
          </a:xfrm>
        </p:spPr>
        <p:txBody>
          <a:bodyPr anchor="t">
            <a:noAutofit/>
          </a:bodyPr>
          <a:lstStyle>
            <a:lvl1pPr marL="0" indent="0" algn="r">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8/6/2026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49849113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9144000" cy="1639491"/>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14034" y="1666716"/>
            <a:ext cx="3889405" cy="27290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0562" y="1666715"/>
            <a:ext cx="3895937" cy="272907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302355-E14B-8545-A8F8-0FE83CC9D524}" type="datetimeFigureOut">
              <a:rPr lang="en-US" dirty="0"/>
              <a:pPr/>
              <a:t>8/6/2026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54346176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9144000" cy="1639491"/>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11046" y="1631156"/>
            <a:ext cx="3892393" cy="432197"/>
          </a:xfrm>
        </p:spPr>
        <p:txBody>
          <a:bodyPr anchor="b">
            <a:noAutofit/>
          </a:bodyPr>
          <a:lstStyle>
            <a:lvl1pPr marL="0" indent="0" algn="ctr">
              <a:buNone/>
              <a:defRPr sz="15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11047" y="2063354"/>
            <a:ext cx="3892392" cy="233243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0562" y="1631156"/>
            <a:ext cx="3895937" cy="432197"/>
          </a:xfrm>
        </p:spPr>
        <p:txBody>
          <a:bodyPr anchor="b">
            <a:noAutofit/>
          </a:bodyPr>
          <a:lstStyle>
            <a:lvl1pPr marL="0" indent="0" algn="ctr">
              <a:buNone/>
              <a:defRPr sz="15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0562" y="2063354"/>
            <a:ext cx="3895937" cy="233243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640F58-564D-2B4F-AE67-E407BA4FCF45}" type="datetimeFigureOut">
              <a:rPr lang="en-US" dirty="0"/>
              <a:pPr/>
              <a:t>8/6/2026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30375797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9144000" cy="1639491"/>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3A34C8-038E-2045-AF43-DF7DBB8E0E9E}" type="datetimeFigureOut">
              <a:rPr lang="en-US" dirty="0"/>
              <a:pPr/>
              <a:t>8/6/2026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86889617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18C68F-D26B-8F47-958C-23B49CF8A634}" type="datetimeFigureOut">
              <a:rPr lang="en-US" dirty="0"/>
              <a:pPr/>
              <a:t>8/6/2026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3259924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804864" y="334566"/>
            <a:ext cx="2660650" cy="13609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804864" y="334566"/>
            <a:ext cx="2660650" cy="1213797"/>
          </a:xfrm>
        </p:spPr>
        <p:txBody>
          <a:bodyPr anchor="b"/>
          <a:lstStyle>
            <a:lvl1pPr algn="l">
              <a:defRPr sz="1500" b="1"/>
            </a:lvl1pPr>
          </a:lstStyle>
          <a:p>
            <a:r>
              <a:rPr lang="en-US"/>
              <a:t>Click to edit Master title style</a:t>
            </a:r>
            <a:endParaRPr lang="en-US" dirty="0"/>
          </a:p>
        </p:txBody>
      </p:sp>
      <p:sp>
        <p:nvSpPr>
          <p:cNvPr id="3" name="Content Placeholder 2"/>
          <p:cNvSpPr>
            <a:spLocks noGrp="1"/>
          </p:cNvSpPr>
          <p:nvPr>
            <p:ph idx="1"/>
          </p:nvPr>
        </p:nvSpPr>
        <p:spPr>
          <a:xfrm>
            <a:off x="3641725" y="334567"/>
            <a:ext cx="4689475" cy="40612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04864" y="1695554"/>
            <a:ext cx="2660650" cy="270023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D0DF5E60-9974-AC48-9591-99C2BB44B7CF}" type="datetimeFigureOut">
              <a:rPr lang="en-US" dirty="0"/>
              <a:pPr/>
              <a:t>8/6/2026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03199908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1046" y="545642"/>
            <a:ext cx="3639741" cy="1212872"/>
          </a:xfrm>
        </p:spPr>
        <p:txBody>
          <a:bodyPr anchor="b">
            <a:normAutofit/>
          </a:bodyPr>
          <a:lstStyle>
            <a:lvl1pPr algn="l">
              <a:defRPr sz="1800" b="0"/>
            </a:lvl1pPr>
          </a:lstStyle>
          <a:p>
            <a:r>
              <a:rPr lang="en-US"/>
              <a:t>Click to edit Master title style</a:t>
            </a:r>
            <a:endParaRPr lang="en-US" dirty="0"/>
          </a:p>
        </p:txBody>
      </p:sp>
      <p:sp>
        <p:nvSpPr>
          <p:cNvPr id="9" name="Picture Placeholder 11"/>
          <p:cNvSpPr>
            <a:spLocks noGrp="1" noChangeAspect="1"/>
          </p:cNvSpPr>
          <p:nvPr>
            <p:ph type="pic" sz="quarter" idx="13"/>
          </p:nvPr>
        </p:nvSpPr>
        <p:spPr bwMode="auto">
          <a:xfrm>
            <a:off x="4573588" y="0"/>
            <a:ext cx="4570412" cy="51435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050"/>
            </a:lvl1pPr>
          </a:lstStyle>
          <a:p>
            <a:r>
              <a:rPr lang="en-US"/>
              <a:t>Click icon to add picture</a:t>
            </a:r>
            <a:endParaRPr lang="en-US" dirty="0"/>
          </a:p>
        </p:txBody>
      </p:sp>
      <p:sp>
        <p:nvSpPr>
          <p:cNvPr id="4" name="Text Placeholder 3"/>
          <p:cNvSpPr>
            <a:spLocks noGrp="1"/>
          </p:cNvSpPr>
          <p:nvPr>
            <p:ph type="body" sz="half" idx="2"/>
          </p:nvPr>
        </p:nvSpPr>
        <p:spPr>
          <a:xfrm>
            <a:off x="611046" y="1758513"/>
            <a:ext cx="3639741" cy="2637274"/>
          </a:xfrm>
        </p:spPr>
        <p:txBody>
          <a:bodyPr anchor="t">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2914358" y="4531022"/>
            <a:ext cx="732659" cy="273844"/>
          </a:xfrm>
        </p:spPr>
        <p:txBody>
          <a:bodyPr/>
          <a:lstStyle/>
          <a:p>
            <a:fld id="{18C79C5D-2A6F-F04D-97DA-BEF2467B64E4}" type="datetimeFigureOut">
              <a:rPr lang="en-US" dirty="0"/>
              <a:pPr/>
              <a:t>8/6/2026</a:t>
            </a:fld>
            <a:endParaRPr lang="en-US" dirty="0"/>
          </a:p>
        </p:txBody>
      </p:sp>
      <p:sp>
        <p:nvSpPr>
          <p:cNvPr id="6" name="Footer Placeholder 5"/>
          <p:cNvSpPr>
            <a:spLocks noGrp="1"/>
          </p:cNvSpPr>
          <p:nvPr>
            <p:ph type="ftr" sz="quarter" idx="11"/>
          </p:nvPr>
        </p:nvSpPr>
        <p:spPr>
          <a:xfrm>
            <a:off x="442797" y="4531022"/>
            <a:ext cx="2471560" cy="273844"/>
          </a:xfrm>
        </p:spPr>
        <p:txBody>
          <a:bodyPr/>
          <a:lstStyle/>
          <a:p>
            <a:endParaRPr lang="en-US" dirty="0"/>
          </a:p>
        </p:txBody>
      </p:sp>
      <p:sp>
        <p:nvSpPr>
          <p:cNvPr id="7" name="Slide Number Placeholder 6"/>
          <p:cNvSpPr>
            <a:spLocks noGrp="1"/>
          </p:cNvSpPr>
          <p:nvPr>
            <p:ph type="sldNum" sz="quarter" idx="12"/>
          </p:nvPr>
        </p:nvSpPr>
        <p:spPr>
          <a:xfrm>
            <a:off x="3647017" y="4436917"/>
            <a:ext cx="796616" cy="367949"/>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0289166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7500" y="3600450"/>
            <a:ext cx="7921064" cy="425054"/>
          </a:xfrm>
        </p:spPr>
        <p:txBody>
          <a:bodyPr anchor="b">
            <a:normAutofit/>
          </a:bodyPr>
          <a:lstStyle>
            <a:lvl1pPr algn="l">
              <a:defRPr sz="1800" b="0"/>
            </a:lvl1pPr>
          </a:lstStyle>
          <a:p>
            <a:r>
              <a:rPr lang="en-US"/>
              <a:t>Click to edit Master title style</a:t>
            </a:r>
            <a:endParaRPr lang="en-US" dirty="0"/>
          </a:p>
        </p:txBody>
      </p:sp>
      <p:sp>
        <p:nvSpPr>
          <p:cNvPr id="15" name="Picture Placeholder 14"/>
          <p:cNvSpPr>
            <a:spLocks noGrp="1" noChangeAspect="1"/>
          </p:cNvSpPr>
          <p:nvPr>
            <p:ph type="pic" sz="quarter" idx="13"/>
          </p:nvPr>
        </p:nvSpPr>
        <p:spPr bwMode="auto">
          <a:xfrm>
            <a:off x="0" y="0"/>
            <a:ext cx="9144000" cy="360045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200"/>
            </a:lvl1pPr>
          </a:lstStyle>
          <a:p>
            <a:r>
              <a:rPr lang="en-US"/>
              <a:t>Click icon to add picture</a:t>
            </a:r>
            <a:endParaRPr lang="en-US" dirty="0"/>
          </a:p>
        </p:txBody>
      </p:sp>
      <p:sp>
        <p:nvSpPr>
          <p:cNvPr id="4" name="Text Placeholder 3"/>
          <p:cNvSpPr>
            <a:spLocks noGrp="1"/>
          </p:cNvSpPr>
          <p:nvPr>
            <p:ph type="body" sz="half" idx="2"/>
          </p:nvPr>
        </p:nvSpPr>
        <p:spPr>
          <a:xfrm>
            <a:off x="607500" y="4025504"/>
            <a:ext cx="7921064" cy="370284"/>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8C79C5D-2A6F-F04D-97DA-BEF2467B64E4}" type="datetimeFigureOut">
              <a:rPr lang="en-US" dirty="0"/>
              <a:pPr/>
              <a:t>8/6/2026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00449816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473773" y="811092"/>
            <a:ext cx="4749312" cy="242939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638239" y="928877"/>
            <a:ext cx="4420380" cy="1984434"/>
          </a:xfrm>
        </p:spPr>
        <p:txBody>
          <a:bodyPr anchor="b"/>
          <a:lstStyle>
            <a:lvl1pPr algn="l">
              <a:defRPr sz="3150" b="1" cap="none"/>
            </a:lvl1pPr>
          </a:lstStyle>
          <a:p>
            <a:r>
              <a:rPr lang="en-US"/>
              <a:t>Click to edit Master title style</a:t>
            </a:r>
            <a:endParaRPr lang="en-US" dirty="0"/>
          </a:p>
        </p:txBody>
      </p:sp>
      <p:sp>
        <p:nvSpPr>
          <p:cNvPr id="3" name="Text Placeholder 2"/>
          <p:cNvSpPr>
            <a:spLocks noGrp="1"/>
          </p:cNvSpPr>
          <p:nvPr>
            <p:ph type="body" idx="1"/>
          </p:nvPr>
        </p:nvSpPr>
        <p:spPr>
          <a:xfrm>
            <a:off x="639893" y="3332760"/>
            <a:ext cx="4418727" cy="534931"/>
          </a:xfrm>
        </p:spPr>
        <p:txBody>
          <a:bodyPr anchor="t">
            <a:no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5680982" y="811092"/>
            <a:ext cx="2857501" cy="3056599"/>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8/6/2026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63363153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855664" y="1714939"/>
            <a:ext cx="3671336" cy="1877979"/>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8" name="Title 1"/>
          <p:cNvSpPr>
            <a:spLocks noGrp="1"/>
          </p:cNvSpPr>
          <p:nvPr>
            <p:ph type="title"/>
          </p:nvPr>
        </p:nvSpPr>
        <p:spPr>
          <a:xfrm>
            <a:off x="1017817" y="1826968"/>
            <a:ext cx="3286891" cy="1505842"/>
          </a:xfrm>
        </p:spPr>
        <p:txBody>
          <a:bodyPr/>
          <a:lstStyle>
            <a:lvl1pPr>
              <a:defRPr sz="2400"/>
            </a:lvl1pPr>
          </a:lstStyle>
          <a:p>
            <a:r>
              <a:rPr lang="en-US"/>
              <a:t>Click to edit Master title style</a:t>
            </a:r>
            <a:endParaRPr lang="en-US" dirty="0"/>
          </a:p>
        </p:txBody>
      </p:sp>
      <p:sp>
        <p:nvSpPr>
          <p:cNvPr id="6" name="Text Placeholder 5"/>
          <p:cNvSpPr>
            <a:spLocks noGrp="1"/>
          </p:cNvSpPr>
          <p:nvPr>
            <p:ph type="body" sz="quarter" idx="16"/>
          </p:nvPr>
        </p:nvSpPr>
        <p:spPr>
          <a:xfrm>
            <a:off x="4617000" y="1714500"/>
            <a:ext cx="3660225" cy="1721644"/>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FBF54567-0DE4-3F47-BF90-CB84690072F9}" type="datetimeFigureOut">
              <a:rPr lang="en-US" dirty="0"/>
              <a:pPr/>
              <a:t>8/6/2026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388129086"/>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9144000" cy="1639491"/>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C52C72-DE31-F449-A4ED-4C594FD91407}" type="datetimeFigureOut">
              <a:rPr lang="en-US" dirty="0"/>
              <a:pPr/>
              <a:t>8/6/2026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949951936"/>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5752239" y="334567"/>
            <a:ext cx="3391762" cy="406122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Vertical Title 1"/>
          <p:cNvSpPr>
            <a:spLocks noGrp="1"/>
          </p:cNvSpPr>
          <p:nvPr>
            <p:ph type="title" orient="vert"/>
          </p:nvPr>
        </p:nvSpPr>
        <p:spPr>
          <a:xfrm>
            <a:off x="6137656" y="439628"/>
            <a:ext cx="1871093" cy="385109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07501" y="334567"/>
            <a:ext cx="4958655" cy="406122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62726E-379B-B349-9EED-81ED093FA806}" type="datetimeFigureOut">
              <a:rPr lang="en-US" dirty="0"/>
              <a:pPr/>
              <a:t>8/6/2026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500563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77928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7500" y="335391"/>
            <a:ext cx="7928999" cy="727838"/>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607500" y="1638301"/>
            <a:ext cx="7922464" cy="2755798"/>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338636" y="4531022"/>
            <a:ext cx="6483240" cy="273844"/>
          </a:xfrm>
          <a:prstGeom prst="rect">
            <a:avLst/>
          </a:prstGeom>
        </p:spPr>
        <p:txBody>
          <a:bodyPr vert="horz" lIns="91440" tIns="45720" rIns="91440" bIns="45720" rtlCol="0" anchor="b"/>
          <a:lstStyle>
            <a:lvl1pPr algn="l">
              <a:defRPr sz="675">
                <a:solidFill>
                  <a:schemeClr val="tx1"/>
                </a:solidFill>
              </a:defRPr>
            </a:lvl1pPr>
          </a:lstStyle>
          <a:p>
            <a:endParaRPr lang="en-US" dirty="0"/>
          </a:p>
        </p:txBody>
      </p:sp>
      <p:sp>
        <p:nvSpPr>
          <p:cNvPr id="4" name="Date Placeholder 3"/>
          <p:cNvSpPr>
            <a:spLocks noGrp="1"/>
          </p:cNvSpPr>
          <p:nvPr>
            <p:ph type="dt" sz="half" idx="2"/>
          </p:nvPr>
        </p:nvSpPr>
        <p:spPr>
          <a:xfrm>
            <a:off x="7000969" y="4531022"/>
            <a:ext cx="1007780" cy="273844"/>
          </a:xfrm>
          <a:prstGeom prst="rect">
            <a:avLst/>
          </a:prstGeom>
        </p:spPr>
        <p:txBody>
          <a:bodyPr vert="horz" lIns="91440" tIns="45720" rIns="91440" bIns="45720" rtlCol="0" anchor="b"/>
          <a:lstStyle>
            <a:lvl1pPr algn="r">
              <a:defRPr sz="675">
                <a:solidFill>
                  <a:schemeClr val="tx1"/>
                </a:solidFill>
              </a:defRPr>
            </a:lvl1pPr>
          </a:lstStyle>
          <a:p>
            <a:fld id="{09B482E8-6E0E-1B4F-B1FD-C69DB9E858D9}" type="datetimeFigureOut">
              <a:rPr lang="en-US" dirty="0"/>
              <a:pPr/>
              <a:t>8/6/2026</a:t>
            </a:fld>
            <a:endParaRPr lang="en-US" dirty="0"/>
          </a:p>
        </p:txBody>
      </p:sp>
      <p:sp>
        <p:nvSpPr>
          <p:cNvPr id="6" name="Slide Number Placeholder 5"/>
          <p:cNvSpPr>
            <a:spLocks noGrp="1"/>
          </p:cNvSpPr>
          <p:nvPr>
            <p:ph type="sldNum" sz="quarter" idx="4"/>
          </p:nvPr>
        </p:nvSpPr>
        <p:spPr>
          <a:xfrm>
            <a:off x="8008749" y="4436917"/>
            <a:ext cx="796616" cy="367949"/>
          </a:xfrm>
          <a:prstGeom prst="rect">
            <a:avLst/>
          </a:prstGeom>
        </p:spPr>
        <p:txBody>
          <a:bodyPr vert="horz" lIns="91440" tIns="45720" rIns="91440" bIns="10800" rtlCol="0" anchor="b"/>
          <a:lstStyle>
            <a:lvl1pPr algn="r">
              <a:defRPr sz="1500">
                <a:solidFill>
                  <a:schemeClr val="accent1"/>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4274919129"/>
      </p:ext>
    </p:extLst>
  </p:cSld>
  <p:clrMap bg1="dk1" tx1="lt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Lst>
  <p:hf sldNum="0" hdr="0" ftr="0" dt="0"/>
  <p:txStyles>
    <p:titleStyle>
      <a:lvl1pPr algn="l" defTabSz="342900" rtl="0" eaLnBrk="1" latinLnBrk="0" hangingPunct="1">
        <a:spcBef>
          <a:spcPct val="0"/>
        </a:spcBef>
        <a:buNone/>
        <a:defRPr sz="3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ct val="20000"/>
        </a:spcBef>
        <a:spcAft>
          <a:spcPts val="450"/>
        </a:spcAft>
        <a:buClr>
          <a:schemeClr val="accent1"/>
        </a:buClr>
        <a:buFont typeface="Wingdings 2" charset="2"/>
        <a:buChar char=""/>
        <a:defRPr sz="1350" kern="1200">
          <a:solidFill>
            <a:schemeClr val="tx1"/>
          </a:solidFill>
          <a:latin typeface="+mn-lt"/>
          <a:ea typeface="+mn-ea"/>
          <a:cs typeface="+mn-cs"/>
        </a:defRPr>
      </a:lvl1pPr>
      <a:lvl2pPr marL="557213" indent="-214313" algn="l" defTabSz="342900" rtl="0" eaLnBrk="1" latinLnBrk="0" hangingPunct="1">
        <a:spcBef>
          <a:spcPct val="20000"/>
        </a:spcBef>
        <a:spcAft>
          <a:spcPts val="450"/>
        </a:spcAft>
        <a:buClr>
          <a:schemeClr val="accent1"/>
        </a:buClr>
        <a:buFont typeface="Wingdings 2" charset="2"/>
        <a:buChar char=""/>
        <a:defRPr sz="1200" kern="1200">
          <a:solidFill>
            <a:schemeClr val="tx1"/>
          </a:solidFill>
          <a:latin typeface="+mn-lt"/>
          <a:ea typeface="+mn-ea"/>
          <a:cs typeface="+mn-cs"/>
        </a:defRPr>
      </a:lvl2pPr>
      <a:lvl3pPr marL="857250" indent="-171450" algn="l" defTabSz="342900" rtl="0" eaLnBrk="1" latinLnBrk="0" hangingPunct="1">
        <a:spcBef>
          <a:spcPct val="20000"/>
        </a:spcBef>
        <a:spcAft>
          <a:spcPts val="450"/>
        </a:spcAft>
        <a:buClr>
          <a:schemeClr val="accent1"/>
        </a:buClr>
        <a:buFont typeface="Wingdings 2" charset="2"/>
        <a:buChar char=""/>
        <a:defRPr sz="1050" kern="1200">
          <a:solidFill>
            <a:schemeClr val="tx1"/>
          </a:solidFill>
          <a:latin typeface="+mn-lt"/>
          <a:ea typeface="+mn-ea"/>
          <a:cs typeface="+mn-cs"/>
        </a:defRPr>
      </a:lvl3pPr>
      <a:lvl4pPr marL="1200150" indent="-171450" algn="l" defTabSz="342900" rtl="0" eaLnBrk="1" latinLnBrk="0" hangingPunct="1">
        <a:spcBef>
          <a:spcPct val="20000"/>
        </a:spcBef>
        <a:spcAft>
          <a:spcPts val="450"/>
        </a:spcAft>
        <a:buClr>
          <a:schemeClr val="accent1"/>
        </a:buClr>
        <a:buFont typeface="Wingdings 2" charset="2"/>
        <a:buChar char=""/>
        <a:defRPr sz="900" kern="1200">
          <a:solidFill>
            <a:schemeClr val="tx1"/>
          </a:solidFill>
          <a:latin typeface="+mn-lt"/>
          <a:ea typeface="+mn-ea"/>
          <a:cs typeface="+mn-cs"/>
        </a:defRPr>
      </a:lvl4pPr>
      <a:lvl5pPr marL="1543050" indent="-171450" algn="l" defTabSz="342900" rtl="0" eaLnBrk="1" latinLnBrk="0" hangingPunct="1">
        <a:spcBef>
          <a:spcPct val="20000"/>
        </a:spcBef>
        <a:spcAft>
          <a:spcPts val="450"/>
        </a:spcAft>
        <a:buClr>
          <a:schemeClr val="accent1"/>
        </a:buClr>
        <a:buFont typeface="Wingdings 2" charset="2"/>
        <a:buChar char=""/>
        <a:defRPr sz="900" kern="1200">
          <a:solidFill>
            <a:schemeClr val="tx1"/>
          </a:solidFill>
          <a:latin typeface="+mn-lt"/>
          <a:ea typeface="+mn-ea"/>
          <a:cs typeface="+mn-cs"/>
        </a:defRPr>
      </a:lvl5pPr>
      <a:lvl6pPr marL="1800000" indent="-171450" algn="l" defTabSz="342900" rtl="0" eaLnBrk="1" latinLnBrk="0" hangingPunct="1">
        <a:spcBef>
          <a:spcPct val="20000"/>
        </a:spcBef>
        <a:spcAft>
          <a:spcPts val="450"/>
        </a:spcAft>
        <a:buClr>
          <a:schemeClr val="accent1"/>
        </a:buClr>
        <a:buFont typeface="Wingdings 2" charset="2"/>
        <a:buChar char=""/>
        <a:defRPr sz="900" kern="1200">
          <a:solidFill>
            <a:schemeClr val="tx1"/>
          </a:solidFill>
          <a:latin typeface="+mn-lt"/>
          <a:ea typeface="+mn-ea"/>
          <a:cs typeface="+mn-cs"/>
        </a:defRPr>
      </a:lvl6pPr>
      <a:lvl7pPr marL="2100000" indent="-171450" algn="l" defTabSz="342900" rtl="0" eaLnBrk="1" latinLnBrk="0" hangingPunct="1">
        <a:spcBef>
          <a:spcPct val="20000"/>
        </a:spcBef>
        <a:spcAft>
          <a:spcPts val="450"/>
        </a:spcAft>
        <a:buClr>
          <a:schemeClr val="accent1"/>
        </a:buClr>
        <a:buFont typeface="Wingdings 2" charset="2"/>
        <a:buChar char=""/>
        <a:defRPr sz="900" kern="1200">
          <a:solidFill>
            <a:schemeClr val="tx1"/>
          </a:solidFill>
          <a:latin typeface="+mn-lt"/>
          <a:ea typeface="+mn-ea"/>
          <a:cs typeface="+mn-cs"/>
        </a:defRPr>
      </a:lvl7pPr>
      <a:lvl8pPr marL="2400000" indent="-171450" algn="l" defTabSz="342900" rtl="0" eaLnBrk="1" latinLnBrk="0" hangingPunct="1">
        <a:spcBef>
          <a:spcPct val="20000"/>
        </a:spcBef>
        <a:spcAft>
          <a:spcPts val="450"/>
        </a:spcAft>
        <a:buClr>
          <a:schemeClr val="accent1"/>
        </a:buClr>
        <a:buFont typeface="Wingdings 2" charset="2"/>
        <a:buChar char=""/>
        <a:defRPr sz="900" kern="1200">
          <a:solidFill>
            <a:schemeClr val="tx1"/>
          </a:solidFill>
          <a:latin typeface="+mn-lt"/>
          <a:ea typeface="+mn-ea"/>
          <a:cs typeface="+mn-cs"/>
        </a:defRPr>
      </a:lvl8pPr>
      <a:lvl9pPr marL="2700000" indent="-171450" algn="l" defTabSz="342900" rtl="0" eaLnBrk="1" latinLnBrk="0" hangingPunct="1">
        <a:spcBef>
          <a:spcPct val="20000"/>
        </a:spcBef>
        <a:spcAft>
          <a:spcPts val="450"/>
        </a:spcAft>
        <a:buClr>
          <a:schemeClr val="accent1"/>
        </a:buClr>
        <a:buFont typeface="Wingdings 2" charset="2"/>
        <a:buChar char=""/>
        <a:defRPr sz="9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5.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5.xml"/><Relationship Id="rId6" Type="http://schemas.openxmlformats.org/officeDocument/2006/relationships/image" Target="../media/image3.png"/><Relationship Id="rId5" Type="http://schemas.openxmlformats.org/officeDocument/2006/relationships/image" Target="../media/image6.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5.xml"/><Relationship Id="rId6" Type="http://schemas.openxmlformats.org/officeDocument/2006/relationships/hyperlink" Target="https://creativecommons.org/licenses/by-nd/3.0/" TargetMode="External"/><Relationship Id="rId5" Type="http://schemas.openxmlformats.org/officeDocument/2006/relationships/hyperlink" Target="https://livingthrufaith.blogspot.com/2012/07/" TargetMode="External"/><Relationship Id="rId4" Type="http://schemas.openxmlformats.org/officeDocument/2006/relationships/image" Target="../media/image8.gif"/></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5.xml"/><Relationship Id="rId6" Type="http://schemas.openxmlformats.org/officeDocument/2006/relationships/image" Target="../media/image3.png"/><Relationship Id="rId5" Type="http://schemas.openxmlformats.org/officeDocument/2006/relationships/image" Target="../media/image11.sv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5.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5.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 Id="rId9"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5.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mytutor/gamma/grad.png"/>
          <p:cNvPicPr>
            <a:picLocks noChangeAspect="1"/>
          </p:cNvPicPr>
          <p:nvPr/>
        </p:nvPicPr>
        <p:blipFill>
          <a:blip r:embed="rId3"/>
          <a:stretch>
            <a:fillRect/>
          </a:stretch>
        </p:blipFill>
        <p:spPr>
          <a:xfrm>
            <a:off x="0" y="0"/>
            <a:ext cx="9144000" cy="5143500"/>
          </a:xfrm>
          <a:prstGeom prst="rect">
            <a:avLst/>
          </a:prstGeom>
        </p:spPr>
      </p:pic>
      <p:sp>
        <p:nvSpPr>
          <p:cNvPr id="4" name="Text 1"/>
          <p:cNvSpPr/>
          <p:nvPr/>
        </p:nvSpPr>
        <p:spPr>
          <a:xfrm>
            <a:off x="561044" y="2342533"/>
            <a:ext cx="8418064" cy="1055476"/>
          </a:xfrm>
          <a:prstGeom prst="rect">
            <a:avLst/>
          </a:prstGeom>
          <a:noFill/>
          <a:ln/>
        </p:spPr>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9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5" name="Text 2"/>
          <p:cNvSpPr/>
          <p:nvPr/>
        </p:nvSpPr>
        <p:spPr>
          <a:xfrm>
            <a:off x="622419" y="3382138"/>
            <a:ext cx="7315200" cy="731520"/>
          </a:xfrm>
          <a:prstGeom prst="rect">
            <a:avLst/>
          </a:prstGeom>
          <a:noFill/>
          <a:ln/>
        </p:spPr>
        <p:txBody>
          <a:bodyPr wrap="square" rtlCol="0" anchor="ctr"/>
          <a:lstStyle/>
          <a:p>
            <a:pPr lvl="0"/>
            <a:r>
              <a:rPr lang="en-US" sz="2800" b="1" dirty="0">
                <a:solidFill>
                  <a:srgbClr val="002060"/>
                </a:solidFill>
                <a:latin typeface="Calibri" panose="020F0502020204030204" pitchFamily="34" charset="0"/>
                <a:ea typeface="Calibri" panose="020F0502020204030204" pitchFamily="34" charset="0"/>
                <a:cs typeface="Calibri" panose="020F0502020204030204" pitchFamily="34" charset="0"/>
              </a:rPr>
              <a:t>Patient, adaptive math tutoring with automatic homeschool records.</a:t>
            </a:r>
          </a:p>
        </p:txBody>
      </p:sp>
      <p:sp>
        <p:nvSpPr>
          <p:cNvPr id="6" name="Text 3"/>
          <p:cNvSpPr/>
          <p:nvPr/>
        </p:nvSpPr>
        <p:spPr>
          <a:xfrm>
            <a:off x="591729" y="4291161"/>
            <a:ext cx="3114164" cy="365760"/>
          </a:xfrm>
          <a:prstGeom prst="rect">
            <a:avLst/>
          </a:prstGeom>
          <a:noFill/>
          <a:ln/>
        </p:spPr>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D8F5F2"/>
                </a:solidFill>
                <a:effectLst/>
                <a:uLnTx/>
                <a:uFillTx/>
                <a:latin typeface="Calibri" pitchFamily="34" charset="0"/>
                <a:ea typeface="Calibri" pitchFamily="34" charset="-122"/>
                <a:cs typeface="Calibri" pitchFamily="34" charset="-120"/>
              </a:rPr>
              <a:t> </a:t>
            </a:r>
            <a:r>
              <a:rPr kumimoji="0" lang="en-US" sz="2400" b="0" i="0" u="none" strike="noStrike" kern="1200" cap="none" spc="0" normalizeH="0" baseline="0" noProof="0" dirty="0">
                <a:ln>
                  <a:noFill/>
                </a:ln>
                <a:solidFill>
                  <a:schemeClr val="accent4"/>
                </a:solidFill>
                <a:effectLst/>
                <a:uLnTx/>
                <a:uFillTx/>
                <a:latin typeface="Calibri" pitchFamily="34" charset="0"/>
                <a:ea typeface="Calibri" pitchFamily="34" charset="-122"/>
                <a:cs typeface="Calibri" pitchFamily="34" charset="-120"/>
              </a:rPr>
              <a:t>mrcadabra.com</a:t>
            </a:r>
            <a:endParaRPr kumimoji="0" lang="en-US" sz="2400" b="0" i="0" u="none" strike="noStrike" kern="1200" cap="none" spc="0" normalizeH="0" baseline="0" noProof="0" dirty="0">
              <a:ln>
                <a:noFill/>
              </a:ln>
              <a:solidFill>
                <a:schemeClr val="accent4"/>
              </a:solidFill>
              <a:effectLst/>
              <a:uLnTx/>
              <a:uFillTx/>
              <a:latin typeface="Century Gothic" panose="020B0502020202020204"/>
            </a:endParaRPr>
          </a:p>
        </p:txBody>
      </p:sp>
      <p:pic>
        <p:nvPicPr>
          <p:cNvPr id="14" name="Picture 13">
            <a:extLst>
              <a:ext uri="{FF2B5EF4-FFF2-40B4-BE49-F238E27FC236}">
                <a16:creationId xmlns:a16="http://schemas.microsoft.com/office/drawing/2014/main" id="{AE000F1E-381C-5B1D-E90B-DA0B6CD77C6B}"/>
              </a:ext>
            </a:extLst>
          </p:cNvPr>
          <p:cNvPicPr>
            <a:picLocks noChangeAspect="1"/>
          </p:cNvPicPr>
          <p:nvPr/>
        </p:nvPicPr>
        <p:blipFill>
          <a:blip r:embed="rId4"/>
          <a:srcRect l="25848" t="15580" r="26459" b="27667"/>
          <a:stretch>
            <a:fillRect/>
          </a:stretch>
        </p:blipFill>
        <p:spPr>
          <a:xfrm>
            <a:off x="404037" y="297180"/>
            <a:ext cx="2542746" cy="2017208"/>
          </a:xfrm>
          <a:prstGeom prst="rect">
            <a:avLst/>
          </a:prstGeom>
        </p:spPr>
      </p:pic>
      <p:sp>
        <p:nvSpPr>
          <p:cNvPr id="15" name="Rectangle: Rounded Corners 14">
            <a:extLst>
              <a:ext uri="{FF2B5EF4-FFF2-40B4-BE49-F238E27FC236}">
                <a16:creationId xmlns:a16="http://schemas.microsoft.com/office/drawing/2014/main" id="{0E98C91B-B4D6-1540-239E-BC221D84CD0E}"/>
              </a:ext>
            </a:extLst>
          </p:cNvPr>
          <p:cNvSpPr/>
          <p:nvPr/>
        </p:nvSpPr>
        <p:spPr>
          <a:xfrm>
            <a:off x="2694105" y="578698"/>
            <a:ext cx="5243514" cy="355113"/>
          </a:xfrm>
          <a:prstGeom prst="roundRect">
            <a:avLst/>
          </a:prstGeom>
          <a:ln>
            <a:noFill/>
          </a:ln>
        </p:spPr>
        <p:style>
          <a:lnRef idx="2">
            <a:schemeClr val="accent5"/>
          </a:lnRef>
          <a:fillRef idx="1">
            <a:schemeClr val="lt1"/>
          </a:fillRef>
          <a:effectRef idx="0">
            <a:schemeClr val="accent5"/>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6" name="TextBox 15">
            <a:extLst>
              <a:ext uri="{FF2B5EF4-FFF2-40B4-BE49-F238E27FC236}">
                <a16:creationId xmlns:a16="http://schemas.microsoft.com/office/drawing/2014/main" id="{7CD50EA3-1D45-A771-3EBF-C45C9FEDAB5B}"/>
              </a:ext>
            </a:extLst>
          </p:cNvPr>
          <p:cNvSpPr txBox="1"/>
          <p:nvPr/>
        </p:nvSpPr>
        <p:spPr>
          <a:xfrm>
            <a:off x="2827930" y="571588"/>
            <a:ext cx="4812525" cy="369332"/>
          </a:xfrm>
          <a:prstGeom prst="rect">
            <a:avLst/>
          </a:prstGeom>
          <a:noFill/>
          <a:ln>
            <a:noFill/>
          </a:ln>
        </p:spPr>
        <p:txBody>
          <a:bodyPr wrap="square" rtlCol="0">
            <a:spAutoFit/>
          </a:bodyPr>
          <a:lstStyle/>
          <a:p>
            <a:pPr algn="ctr">
              <a:defRPr/>
            </a:pPr>
            <a:r>
              <a:rPr kumimoji="0" lang="en-US" sz="1800" b="1" i="0" u="none" strike="noStrike" kern="0" cap="none" spc="300" normalizeH="0" baseline="0" noProof="0" dirty="0">
                <a:ln>
                  <a:noFill/>
                </a:ln>
                <a:solidFill>
                  <a:srgbClr val="4472C4">
                    <a:lumMod val="50000"/>
                  </a:srgbClr>
                </a:solidFill>
                <a:effectLst/>
                <a:uLnTx/>
                <a:uFillTx/>
                <a:latin typeface="Calibri" pitchFamily="34" charset="0"/>
                <a:ea typeface="Calibri" pitchFamily="34" charset="-122"/>
                <a:cs typeface="Calibri" pitchFamily="34" charset="-120"/>
              </a:rPr>
              <a:t> </a:t>
            </a:r>
            <a:r>
              <a:rPr kumimoji="0" lang="en-US" sz="1800" b="1" i="0" u="none" strike="noStrike" kern="0" cap="none" spc="300" normalizeH="0" baseline="0" noProof="0" dirty="0">
                <a:ln>
                  <a:noFill/>
                </a:ln>
                <a:solidFill>
                  <a:schemeClr val="accent4"/>
                </a:solidFill>
                <a:effectLst/>
                <a:uLnTx/>
                <a:uFillTx/>
                <a:latin typeface="Calibri" panose="020F0502020204030204" pitchFamily="34" charset="0"/>
                <a:ea typeface="Calibri" panose="020F0502020204030204" pitchFamily="34" charset="0"/>
                <a:cs typeface="Calibri" panose="020F0502020204030204" pitchFamily="34" charset="0"/>
              </a:rPr>
              <a:t>•</a:t>
            </a:r>
            <a:r>
              <a:rPr kumimoji="0" lang="en-US" sz="1600" b="1" i="0" u="none" strike="noStrike" kern="0" cap="none" spc="300" normalizeH="0" baseline="0" noProof="0" dirty="0">
                <a:ln>
                  <a:noFill/>
                </a:ln>
                <a:solidFill>
                  <a:srgbClr val="4472C4">
                    <a:lumMod val="50000"/>
                  </a:srgbClr>
                </a:solidFill>
                <a:effectLst/>
                <a:uLnTx/>
                <a:uFillTx/>
                <a:latin typeface="Calibri" panose="020F0502020204030204" pitchFamily="34" charset="0"/>
                <a:ea typeface="Calibri" panose="020F0502020204030204" pitchFamily="34" charset="0"/>
                <a:cs typeface="Calibri" panose="020F0502020204030204" pitchFamily="34" charset="0"/>
              </a:rPr>
              <a:t> FOR</a:t>
            </a:r>
            <a:r>
              <a:rPr kumimoji="0" lang="en-US" sz="1600" b="1" i="0" u="none" strike="noStrike" kern="0" cap="none" spc="300" normalizeH="0" noProof="0" dirty="0">
                <a:ln>
                  <a:noFill/>
                </a:ln>
                <a:solidFill>
                  <a:srgbClr val="4472C4">
                    <a:lumMod val="50000"/>
                  </a:srgbClr>
                </a:solidFill>
                <a:effectLst/>
                <a:uLnTx/>
                <a:uFillTx/>
                <a:latin typeface="Calibri" panose="020F0502020204030204" pitchFamily="34" charset="0"/>
                <a:ea typeface="Calibri" panose="020F0502020204030204" pitchFamily="34" charset="0"/>
                <a:cs typeface="Calibri" panose="020F0502020204030204" pitchFamily="34" charset="0"/>
              </a:rPr>
              <a:t> </a:t>
            </a:r>
            <a:r>
              <a:rPr lang="en-US" sz="1600" b="1" kern="0" spc="300" dirty="0">
                <a:solidFill>
                  <a:srgbClr val="4472C4">
                    <a:lumMod val="50000"/>
                  </a:srgbClr>
                </a:solidFill>
                <a:latin typeface="Calibri" panose="020F0502020204030204" pitchFamily="34" charset="0"/>
                <a:ea typeface="Calibri" panose="020F0502020204030204" pitchFamily="34" charset="0"/>
                <a:cs typeface="Calibri" panose="020F0502020204030204" pitchFamily="34" charset="0"/>
              </a:rPr>
              <a:t>HOMESCHOOL FAMILIES </a:t>
            </a:r>
            <a:r>
              <a:rPr lang="en-US" b="1" kern="0" spc="300" dirty="0">
                <a:solidFill>
                  <a:schemeClr val="accent4"/>
                </a:solidFill>
                <a:latin typeface="Calibri" panose="020F0502020204030204" pitchFamily="34" charset="0"/>
                <a:ea typeface="Calibri" panose="020F0502020204030204" pitchFamily="34" charset="0"/>
                <a:cs typeface="Calibri" panose="020F0502020204030204" pitchFamily="34" charset="0"/>
              </a:rPr>
              <a:t>•</a:t>
            </a:r>
            <a:endParaRPr lang="en-US" b="1" kern="0" spc="300" dirty="0">
              <a:solidFill>
                <a:schemeClr val="accent4"/>
              </a:solidFill>
              <a:latin typeface="Calibri" pitchFamily="34" charset="0"/>
              <a:ea typeface="Calibri" pitchFamily="34" charset="-122"/>
              <a:cs typeface="Calibri" pitchFamily="34" charset="-120"/>
            </a:endParaRPr>
          </a:p>
        </p:txBody>
      </p:sp>
      <p:sp>
        <p:nvSpPr>
          <p:cNvPr id="3" name="Text 0">
            <a:extLst>
              <a:ext uri="{FF2B5EF4-FFF2-40B4-BE49-F238E27FC236}">
                <a16:creationId xmlns:a16="http://schemas.microsoft.com/office/drawing/2014/main" id="{F1201184-8A2A-1D2C-71C4-B6FBC308DD0F}"/>
              </a:ext>
            </a:extLst>
          </p:cNvPr>
          <p:cNvSpPr/>
          <p:nvPr/>
        </p:nvSpPr>
        <p:spPr>
          <a:xfrm>
            <a:off x="4869366" y="1028700"/>
            <a:ext cx="3634554" cy="365760"/>
          </a:xfrm>
          <a:prstGeom prst="rect">
            <a:avLst/>
          </a:prstGeom>
          <a:noFill/>
          <a:ln/>
        </p:spPr>
        <p:txBody>
          <a:bodyPr wrap="square" rtlCol="0" anchor="ctr"/>
          <a:lstStyle/>
          <a:p>
            <a:pPr marL="0" indent="0">
              <a:buNone/>
            </a:pPr>
            <a:endParaRPr lang="en-US" sz="1500" dirty="0"/>
          </a:p>
        </p:txBody>
      </p:sp>
      <p:sp>
        <p:nvSpPr>
          <p:cNvPr id="8" name="TextBox 7">
            <a:extLst>
              <a:ext uri="{FF2B5EF4-FFF2-40B4-BE49-F238E27FC236}">
                <a16:creationId xmlns:a16="http://schemas.microsoft.com/office/drawing/2014/main" id="{67BD823D-1C27-6595-43C0-EFBCD2BC111F}"/>
              </a:ext>
            </a:extLst>
          </p:cNvPr>
          <p:cNvSpPr txBox="1"/>
          <p:nvPr/>
        </p:nvSpPr>
        <p:spPr>
          <a:xfrm>
            <a:off x="591729" y="2618699"/>
            <a:ext cx="8178919" cy="646331"/>
          </a:xfrm>
          <a:prstGeom prst="rect">
            <a:avLst/>
          </a:prstGeom>
          <a:noFill/>
        </p:spPr>
        <p:txBody>
          <a:bodyPr wrap="square">
            <a:spAutoFit/>
          </a:bodyPr>
          <a:lstStyle/>
          <a:p>
            <a:r>
              <a:rPr lang="en-US" sz="3600" b="1" dirty="0">
                <a:latin typeface="Calibri" panose="020F0502020204030204" pitchFamily="34" charset="0"/>
                <a:ea typeface="Calibri" panose="020F0502020204030204" pitchFamily="34" charset="0"/>
                <a:cs typeface="Calibri" panose="020F0502020204030204" pitchFamily="34" charset="0"/>
              </a:rPr>
              <a:t>Your child's personal math tutor</a:t>
            </a:r>
          </a:p>
        </p:txBody>
      </p:sp>
      <p:sp>
        <p:nvSpPr>
          <p:cNvPr id="9" name="TextBox 8">
            <a:extLst>
              <a:ext uri="{FF2B5EF4-FFF2-40B4-BE49-F238E27FC236}">
                <a16:creationId xmlns:a16="http://schemas.microsoft.com/office/drawing/2014/main" id="{ABE3BB10-3B78-DCDE-AEFD-1AE955D0B2AB}"/>
              </a:ext>
            </a:extLst>
          </p:cNvPr>
          <p:cNvSpPr txBox="1"/>
          <p:nvPr/>
        </p:nvSpPr>
        <p:spPr>
          <a:xfrm>
            <a:off x="777194" y="2121226"/>
            <a:ext cx="2050736" cy="276999"/>
          </a:xfrm>
          <a:prstGeom prst="rect">
            <a:avLst/>
          </a:prstGeom>
          <a:noFill/>
        </p:spPr>
        <p:txBody>
          <a:bodyPr wrap="square" rtlCol="0">
            <a:spAutoFit/>
          </a:bodyPr>
          <a:lstStyle/>
          <a:p>
            <a:r>
              <a:rPr lang="en-US" sz="1200" dirty="0">
                <a:solidFill>
                  <a:schemeClr val="accent4"/>
                </a:solidFill>
              </a:rPr>
              <a:t>— </a:t>
            </a:r>
            <a:r>
              <a:rPr lang="en-US" sz="1200" dirty="0"/>
              <a:t>  </a:t>
            </a:r>
            <a:r>
              <a:rPr lang="en-US" sz="1200" dirty="0">
                <a:solidFill>
                  <a:srgbClr val="002060"/>
                </a:solidFill>
                <a:latin typeface="+mj-lt"/>
                <a:ea typeface="Calibri" panose="020F0502020204030204" pitchFamily="34" charset="0"/>
                <a:cs typeface="Calibri" panose="020F0502020204030204" pitchFamily="34" charset="0"/>
              </a:rPr>
              <a:t>AI-Powered Tutor  </a:t>
            </a:r>
            <a:r>
              <a:rPr lang="en-US" sz="1200" dirty="0">
                <a:solidFill>
                  <a:schemeClr val="accent4"/>
                </a:solidFill>
              </a:rPr>
              <a:t>—</a:t>
            </a:r>
            <a:endParaRPr lang="en-US" sz="1200" dirty="0">
              <a:solidFill>
                <a:schemeClr val="accent4"/>
              </a:solidFill>
              <a:latin typeface="+mj-lt"/>
              <a:ea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par>
                          <p:cTn id="11" fill="hold">
                            <p:stCondLst>
                              <p:cond delay="750"/>
                            </p:stCondLst>
                            <p:childTnLst>
                              <p:par>
                                <p:cTn id="12" presetID="10" presetClass="entr" presetSubtype="0" fill="hold" grpId="0" nodeType="after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500"/>
                                        <p:tgtEl>
                                          <p:spTgt spid="1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par>
                          <p:cTn id="18" fill="hold">
                            <p:stCondLst>
                              <p:cond delay="1250"/>
                            </p:stCondLst>
                            <p:childTnLst>
                              <p:par>
                                <p:cTn id="19" presetID="10" presetClass="entr" presetSubtype="0" fill="hold" grpId="0" nodeType="afterEffect">
                                  <p:stCondLst>
                                    <p:cond delay="25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500"/>
                                        <p:tgtEl>
                                          <p:spTgt spid="4"/>
                                        </p:tgtEl>
                                      </p:cBhvr>
                                    </p:animEffect>
                                  </p:childTnLst>
                                </p:cTn>
                              </p:par>
                            </p:childTnLst>
                          </p:cTn>
                        </p:par>
                        <p:par>
                          <p:cTn id="22" fill="hold">
                            <p:stCondLst>
                              <p:cond delay="2000"/>
                            </p:stCondLst>
                            <p:childTnLst>
                              <p:par>
                                <p:cTn id="23" presetID="10" presetClass="entr" presetSubtype="0" fill="hold" grpId="0"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childTnLst>
                          </p:cTn>
                        </p:par>
                        <p:par>
                          <p:cTn id="26" fill="hold">
                            <p:stCondLst>
                              <p:cond delay="2500"/>
                            </p:stCondLst>
                            <p:childTnLst>
                              <p:par>
                                <p:cTn id="27" presetID="10" presetClass="entr" presetSubtype="0" fill="hold" grpId="0" nodeType="afterEffect">
                                  <p:stCondLst>
                                    <p:cond delay="500"/>
                                  </p:stCondLst>
                                  <p:childTnLst>
                                    <p:set>
                                      <p:cBhvr>
                                        <p:cTn id="28" dur="1" fill="hold">
                                          <p:stCondLst>
                                            <p:cond delay="0"/>
                                          </p:stCondLst>
                                        </p:cTn>
                                        <p:tgtEl>
                                          <p:spTgt spid="5"/>
                                        </p:tgtEl>
                                        <p:attrNameLst>
                                          <p:attrName>style.visibility</p:attrName>
                                        </p:attrNameLst>
                                      </p:cBhvr>
                                      <p:to>
                                        <p:strVal val="visible"/>
                                      </p:to>
                                    </p:set>
                                    <p:animEffect transition="in" filter="fade">
                                      <p:cBhvr>
                                        <p:cTn id="29" dur="500"/>
                                        <p:tgtEl>
                                          <p:spTgt spid="5"/>
                                        </p:tgtEl>
                                      </p:cBhvr>
                                    </p:animEffect>
                                  </p:childTnLst>
                                </p:cTn>
                              </p:par>
                            </p:childTnLst>
                          </p:cTn>
                        </p:par>
                        <p:par>
                          <p:cTn id="30" fill="hold">
                            <p:stCondLst>
                              <p:cond delay="3500"/>
                            </p:stCondLst>
                            <p:childTnLst>
                              <p:par>
                                <p:cTn id="31" presetID="10" presetClass="entr" presetSubtype="0" fill="hold" grpId="0" nodeType="afterEffect">
                                  <p:stCondLst>
                                    <p:cond delay="50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15" grpId="0" animBg="1"/>
      <p:bldP spid="16" grpId="0"/>
      <p:bldP spid="8" grpId="0"/>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home/claude/mytutor/static/shots/lesson.png"/>
          <p:cNvPicPr>
            <a:picLocks noChangeAspect="1"/>
          </p:cNvPicPr>
          <p:nvPr/>
        </p:nvPicPr>
        <p:blipFill>
          <a:blip r:embed="rId3"/>
          <a:stretch>
            <a:fillRect/>
          </a:stretch>
        </p:blipFill>
        <p:spPr>
          <a:xfrm>
            <a:off x="4078564" y="1105813"/>
            <a:ext cx="4608237" cy="3124229"/>
          </a:xfrm>
          <a:prstGeom prst="rect">
            <a:avLst/>
          </a:prstGeom>
          <a:effectLst>
            <a:outerShdw blurRad="177800" dist="63500" dir="5400000" algn="bl" rotWithShape="0">
              <a:srgbClr val="3C2878">
                <a:alpha val="28000"/>
              </a:srgbClr>
            </a:outerShdw>
          </a:effectLst>
        </p:spPr>
      </p:pic>
      <p:sp>
        <p:nvSpPr>
          <p:cNvPr id="3" name="Text 0"/>
          <p:cNvSpPr/>
          <p:nvPr/>
        </p:nvSpPr>
        <p:spPr>
          <a:xfrm>
            <a:off x="502920" y="806233"/>
            <a:ext cx="3703320" cy="1280160"/>
          </a:xfrm>
          <a:prstGeom prst="rect">
            <a:avLst/>
          </a:prstGeom>
          <a:noFill/>
          <a:ln/>
        </p:spPr>
        <p:txBody>
          <a:bodyPr wrap="square" rtlCol="0" anchor="ctr"/>
          <a:lstStyle/>
          <a:p>
            <a:pPr marL="0" indent="0">
              <a:buNone/>
            </a:pPr>
            <a:r>
              <a:rPr lang="en-US" sz="2700" b="1" dirty="0">
                <a:solidFill>
                  <a:schemeClr val="accent1">
                    <a:lumMod val="75000"/>
                  </a:schemeClr>
                </a:solidFill>
                <a:latin typeface="Calibri" pitchFamily="34" charset="0"/>
                <a:ea typeface="Calibri" pitchFamily="34" charset="-122"/>
                <a:cs typeface="Calibri" pitchFamily="34" charset="-120"/>
              </a:rPr>
              <a:t>He teaches out loud, step by step</a:t>
            </a:r>
            <a:endParaRPr lang="en-US" sz="2700" dirty="0"/>
          </a:p>
        </p:txBody>
      </p:sp>
      <p:sp>
        <p:nvSpPr>
          <p:cNvPr id="4" name="Text 1"/>
          <p:cNvSpPr/>
          <p:nvPr/>
        </p:nvSpPr>
        <p:spPr>
          <a:xfrm>
            <a:off x="502921" y="2366360"/>
            <a:ext cx="3369472" cy="1615013"/>
          </a:xfrm>
          <a:prstGeom prst="rect">
            <a:avLst/>
          </a:prstGeom>
          <a:noFill/>
          <a:ln/>
        </p:spPr>
        <p:txBody>
          <a:bodyPr wrap="square" rtlCol="0" anchor="ctr"/>
          <a:lstStyle/>
          <a:p>
            <a:pPr marL="0" indent="0">
              <a:lnSpc>
                <a:spcPct val="115000"/>
              </a:lnSpc>
              <a:buNone/>
            </a:pPr>
            <a:r>
              <a:rPr lang="en-US" sz="1600" dirty="0" err="1">
                <a:solidFill>
                  <a:srgbClr val="5B6079"/>
                </a:solidFill>
                <a:latin typeface="Calibri" pitchFamily="34" charset="0"/>
                <a:ea typeface="Calibri" pitchFamily="34" charset="-122"/>
                <a:cs typeface="Calibri" pitchFamily="34" charset="-120"/>
              </a:rPr>
              <a:t>Mr.Cadabra</a:t>
            </a:r>
            <a:r>
              <a:rPr lang="en-US" sz="1600" dirty="0">
                <a:solidFill>
                  <a:srgbClr val="5B6079"/>
                </a:solidFill>
                <a:latin typeface="Calibri" pitchFamily="34" charset="0"/>
                <a:ea typeface="Calibri" pitchFamily="34" charset="-122"/>
                <a:cs typeface="Calibri" pitchFamily="34" charset="-120"/>
              </a:rPr>
              <a:t> talks your student through every problem, draws it on the whiteboard, and never races ahead.</a:t>
            </a:r>
          </a:p>
          <a:p>
            <a:pPr marL="0" indent="0">
              <a:lnSpc>
                <a:spcPct val="115000"/>
              </a:lnSpc>
              <a:buNone/>
            </a:pPr>
            <a:endParaRPr lang="en-US" sz="1600" dirty="0">
              <a:solidFill>
                <a:srgbClr val="5B6079"/>
              </a:solidFill>
              <a:latin typeface="Calibri" pitchFamily="34" charset="0"/>
              <a:ea typeface="Calibri" pitchFamily="34" charset="-122"/>
              <a:cs typeface="Calibri" pitchFamily="34" charset="-120"/>
            </a:endParaRPr>
          </a:p>
          <a:p>
            <a:pPr marL="0" indent="0">
              <a:lnSpc>
                <a:spcPct val="115000"/>
              </a:lnSpc>
              <a:buNone/>
            </a:pPr>
            <a:r>
              <a:rPr lang="en-US" sz="1600" dirty="0">
                <a:solidFill>
                  <a:srgbClr val="5B6079"/>
                </a:solidFill>
                <a:latin typeface="Calibri" pitchFamily="34" charset="0"/>
                <a:ea typeface="Calibri" pitchFamily="34" charset="-122"/>
                <a:cs typeface="Calibri" pitchFamily="34" charset="-120"/>
              </a:rPr>
              <a:t>Ten complete courses, from Introductory Math through Calculus.</a:t>
            </a:r>
            <a:endParaRPr lang="en-US" sz="1600" dirty="0"/>
          </a:p>
        </p:txBody>
      </p:sp>
      <p:pic>
        <p:nvPicPr>
          <p:cNvPr id="6" name="Graphic 5" descr="Teacher">
            <a:extLst>
              <a:ext uri="{FF2B5EF4-FFF2-40B4-BE49-F238E27FC236}">
                <a16:creationId xmlns:a16="http://schemas.microsoft.com/office/drawing/2014/main" id="{4AD8385C-AE52-71E8-C0EA-CC28C5E0B3E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53629" y="1449565"/>
            <a:ext cx="914400" cy="914400"/>
          </a:xfrm>
          <a:prstGeom prst="rect">
            <a:avLst/>
          </a:prstGeom>
        </p:spPr>
      </p:pic>
      <p:pic>
        <p:nvPicPr>
          <p:cNvPr id="8" name="Picture 7">
            <a:extLst>
              <a:ext uri="{FF2B5EF4-FFF2-40B4-BE49-F238E27FC236}">
                <a16:creationId xmlns:a16="http://schemas.microsoft.com/office/drawing/2014/main" id="{AAEEE726-56A1-4FC3-DF4D-CBE2532717FB}"/>
              </a:ext>
            </a:extLst>
          </p:cNvPr>
          <p:cNvPicPr>
            <a:picLocks noChangeAspect="1"/>
          </p:cNvPicPr>
          <p:nvPr/>
        </p:nvPicPr>
        <p:blipFill>
          <a:blip r:embed="rId6"/>
          <a:srcRect l="25848" t="15580" r="26459" b="27667"/>
          <a:stretch>
            <a:fillRect/>
          </a:stretch>
        </p:blipFill>
        <p:spPr>
          <a:xfrm>
            <a:off x="7833939" y="4337267"/>
            <a:ext cx="852862" cy="6765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par>
                          <p:cTn id="11" fill="hold">
                            <p:stCondLst>
                              <p:cond delay="500"/>
                            </p:stCondLst>
                            <p:childTnLst>
                              <p:par>
                                <p:cTn id="12" presetID="2" presetClass="entr" presetSubtype="8" fill="hold" grpId="0" nodeType="afterEffect">
                                  <p:stCondLst>
                                    <p:cond delay="50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0-#ppt_w/2"/>
                                          </p:val>
                                        </p:tav>
                                        <p:tav tm="100000">
                                          <p:val>
                                            <p:strVal val="#ppt_x"/>
                                          </p:val>
                                        </p:tav>
                                      </p:tavLst>
                                    </p:anim>
                                    <p:anim calcmode="lin" valueType="num">
                                      <p:cBhvr additive="base">
                                        <p:cTn id="15" dur="500" fill="hold"/>
                                        <p:tgtEl>
                                          <p:spTgt spid="4"/>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50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fill="hold"/>
                                        <p:tgtEl>
                                          <p:spTgt spid="2"/>
                                        </p:tgtEl>
                                        <p:attrNameLst>
                                          <p:attrName>ppt_x</p:attrName>
                                        </p:attrNameLst>
                                      </p:cBhvr>
                                      <p:tavLst>
                                        <p:tav tm="0">
                                          <p:val>
                                            <p:strVal val="1+#ppt_w/2"/>
                                          </p:val>
                                        </p:tav>
                                        <p:tav tm="100000">
                                          <p:val>
                                            <p:strVal val="#ppt_x"/>
                                          </p:val>
                                        </p:tav>
                                      </p:tavLst>
                                    </p:anim>
                                    <p:anim calcmode="lin" valueType="num">
                                      <p:cBhvr additive="base">
                                        <p:cTn id="19" dur="500" fill="hold"/>
                                        <p:tgtEl>
                                          <p:spTgt spid="2"/>
                                        </p:tgtEl>
                                        <p:attrNameLst>
                                          <p:attrName>ppt_y</p:attrName>
                                        </p:attrNameLst>
                                      </p:cBhvr>
                                      <p:tavLst>
                                        <p:tav tm="0">
                                          <p:val>
                                            <p:strVal val="#ppt_y"/>
                                          </p:val>
                                        </p:tav>
                                        <p:tav tm="100000">
                                          <p:val>
                                            <p:strVal val="#ppt_y"/>
                                          </p:val>
                                        </p:tav>
                                      </p:tavLst>
                                    </p:anim>
                                  </p:childTnLst>
                                </p:cTn>
                              </p:par>
                              <p:par>
                                <p:cTn id="20" presetID="10" presetClass="entr" presetSubtype="0" fill="hold" nodeType="withEffect">
                                  <p:stCondLst>
                                    <p:cond delay="5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77A0761-5FDD-EDE8-6C15-A6DB33402708}"/>
            </a:ext>
          </a:extLst>
        </p:cNvPr>
        <p:cNvGrpSpPr/>
        <p:nvPr/>
      </p:nvGrpSpPr>
      <p:grpSpPr>
        <a:xfrm>
          <a:off x="0" y="0"/>
          <a:ext cx="0" cy="0"/>
          <a:chOff x="0" y="0"/>
          <a:chExt cx="0" cy="0"/>
        </a:xfrm>
      </p:grpSpPr>
      <p:pic>
        <p:nvPicPr>
          <p:cNvPr id="34" name="Picture 33">
            <a:extLst>
              <a:ext uri="{FF2B5EF4-FFF2-40B4-BE49-F238E27FC236}">
                <a16:creationId xmlns:a16="http://schemas.microsoft.com/office/drawing/2014/main" id="{648092D6-41A6-370E-BA49-8B2AEFC57570}"/>
              </a:ext>
            </a:extLst>
          </p:cNvPr>
          <p:cNvPicPr>
            <a:picLocks noChangeAspect="1"/>
          </p:cNvPicPr>
          <p:nvPr/>
        </p:nvPicPr>
        <p:blipFill>
          <a:blip r:embed="rId3"/>
          <a:stretch>
            <a:fillRect/>
          </a:stretch>
        </p:blipFill>
        <p:spPr>
          <a:xfrm>
            <a:off x="607556" y="658461"/>
            <a:ext cx="6976942" cy="3826577"/>
          </a:xfrm>
          <a:prstGeom prst="rect">
            <a:avLst/>
          </a:prstGeom>
        </p:spPr>
      </p:pic>
      <p:sp>
        <p:nvSpPr>
          <p:cNvPr id="3" name="Text 0">
            <a:extLst>
              <a:ext uri="{FF2B5EF4-FFF2-40B4-BE49-F238E27FC236}">
                <a16:creationId xmlns:a16="http://schemas.microsoft.com/office/drawing/2014/main" id="{B78F70E6-B5E3-1416-6F95-8FF4B436EF89}"/>
              </a:ext>
            </a:extLst>
          </p:cNvPr>
          <p:cNvSpPr/>
          <p:nvPr/>
        </p:nvSpPr>
        <p:spPr>
          <a:xfrm>
            <a:off x="907494" y="737872"/>
            <a:ext cx="1927297" cy="816053"/>
          </a:xfrm>
          <a:prstGeom prst="rect">
            <a:avLst/>
          </a:prstGeom>
          <a:noFill/>
          <a:ln/>
        </p:spPr>
        <p:txBody>
          <a:bodyPr wrap="square" rtlCol="0" anchor="ctr"/>
          <a:lstStyle/>
          <a:p>
            <a:pPr lvl="0"/>
            <a:r>
              <a:rPr kumimoji="0" lang="en-US" sz="2700" b="1" i="0" u="none" strike="noStrike" kern="1200" cap="none" spc="0" normalizeH="0" baseline="0" noProof="0" dirty="0">
                <a:ln>
                  <a:noFill/>
                </a:ln>
                <a:solidFill>
                  <a:srgbClr val="00C6BB">
                    <a:lumMod val="75000"/>
                  </a:srgbClr>
                </a:solidFill>
                <a:effectLst/>
                <a:uLnTx/>
                <a:uFillTx/>
                <a:latin typeface="Calibri" pitchFamily="34" charset="0"/>
                <a:ea typeface="Calibri" pitchFamily="34" charset="-122"/>
                <a:cs typeface="Calibri" pitchFamily="34" charset="-120"/>
              </a:rPr>
              <a:t>Assessment</a:t>
            </a:r>
            <a:endParaRPr kumimoji="0" lang="en-US" sz="27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4" name="Text 1">
            <a:extLst>
              <a:ext uri="{FF2B5EF4-FFF2-40B4-BE49-F238E27FC236}">
                <a16:creationId xmlns:a16="http://schemas.microsoft.com/office/drawing/2014/main" id="{D396F9B3-0869-8A41-2ADB-5DF3E9221529}"/>
              </a:ext>
            </a:extLst>
          </p:cNvPr>
          <p:cNvSpPr/>
          <p:nvPr/>
        </p:nvSpPr>
        <p:spPr>
          <a:xfrm>
            <a:off x="907494" y="2160870"/>
            <a:ext cx="4346559" cy="850883"/>
          </a:xfrm>
          <a:prstGeom prst="rect">
            <a:avLst/>
          </a:prstGeom>
          <a:noFill/>
          <a:ln/>
        </p:spPr>
        <p:txBody>
          <a:bodyPr wrap="square" rtlCol="0" anchor="ctr"/>
          <a:lstStyle/>
          <a:p>
            <a:pPr marL="285750" indent="-285750">
              <a:buFont typeface="Arial" panose="020B0604020202020204" pitchFamily="34" charset="0"/>
              <a:buChar char="•"/>
            </a:pPr>
            <a:r>
              <a:rPr lang="en-US" dirty="0">
                <a:solidFill>
                  <a:schemeClr val="bg1">
                    <a:lumMod val="65000"/>
                    <a:lumOff val="35000"/>
                  </a:schemeClr>
                </a:solidFill>
                <a:latin typeface="Calibri" panose="020F0502020204030204" pitchFamily="34" charset="0"/>
                <a:ea typeface="Calibri" panose="020F0502020204030204" pitchFamily="34" charset="0"/>
                <a:cs typeface="Calibri" panose="020F0502020204030204" pitchFamily="34" charset="0"/>
              </a:rPr>
              <a:t>A placement test finds where your student starts.</a:t>
            </a:r>
          </a:p>
          <a:p>
            <a:endParaRPr lang="en-US" dirty="0">
              <a:solidFill>
                <a:schemeClr val="bg1">
                  <a:lumMod val="65000"/>
                  <a:lumOff val="35000"/>
                </a:schemeClr>
              </a:solidFill>
              <a:latin typeface="Calibri" panose="020F0502020204030204" pitchFamily="34" charset="0"/>
              <a:ea typeface="Calibri" panose="020F0502020204030204" pitchFamily="34" charset="0"/>
              <a:cs typeface="Calibri" panose="020F0502020204030204" pitchFamily="34" charset="0"/>
            </a:endParaRPr>
          </a:p>
        </p:txBody>
      </p:sp>
      <p:pic>
        <p:nvPicPr>
          <p:cNvPr id="29" name="Picture 28">
            <a:extLst>
              <a:ext uri="{FF2B5EF4-FFF2-40B4-BE49-F238E27FC236}">
                <a16:creationId xmlns:a16="http://schemas.microsoft.com/office/drawing/2014/main" id="{E6F66C23-4A02-7232-2589-D5114F3846CA}"/>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5847133" y="608176"/>
            <a:ext cx="2634081" cy="2188417"/>
          </a:xfrm>
          <a:prstGeom prst="rect">
            <a:avLst/>
          </a:prstGeom>
        </p:spPr>
      </p:pic>
      <p:sp>
        <p:nvSpPr>
          <p:cNvPr id="30" name="TextBox 29">
            <a:extLst>
              <a:ext uri="{FF2B5EF4-FFF2-40B4-BE49-F238E27FC236}">
                <a16:creationId xmlns:a16="http://schemas.microsoft.com/office/drawing/2014/main" id="{7C843514-F8EE-00B8-6D74-0D23807EF475}"/>
              </a:ext>
            </a:extLst>
          </p:cNvPr>
          <p:cNvSpPr txBox="1"/>
          <p:nvPr/>
        </p:nvSpPr>
        <p:spPr>
          <a:xfrm>
            <a:off x="4582634" y="5228882"/>
            <a:ext cx="3084846" cy="369332"/>
          </a:xfrm>
          <a:prstGeom prst="rect">
            <a:avLst/>
          </a:prstGeom>
          <a:noFill/>
        </p:spPr>
        <p:txBody>
          <a:bodyPr wrap="square" rtlCol="0">
            <a:spAutoFit/>
          </a:bodyPr>
          <a:lstStyle/>
          <a:p>
            <a:r>
              <a:rPr lang="en-US" sz="900">
                <a:hlinkClick r:id="rId5" tooltip="https://livingthrufaith.blogspot.com/2012/07/"/>
              </a:rPr>
              <a:t>This Photo</a:t>
            </a:r>
            <a:r>
              <a:rPr lang="en-US" sz="900"/>
              <a:t> by Unknown Author is licensed under </a:t>
            </a:r>
            <a:r>
              <a:rPr lang="en-US" sz="900">
                <a:hlinkClick r:id="rId6" tooltip="https://creativecommons.org/licenses/by-nd/3.0/"/>
              </a:rPr>
              <a:t>CC BY-ND</a:t>
            </a:r>
            <a:endParaRPr lang="en-US" sz="900"/>
          </a:p>
        </p:txBody>
      </p:sp>
      <p:pic>
        <p:nvPicPr>
          <p:cNvPr id="37" name="Picture 36">
            <a:extLst>
              <a:ext uri="{FF2B5EF4-FFF2-40B4-BE49-F238E27FC236}">
                <a16:creationId xmlns:a16="http://schemas.microsoft.com/office/drawing/2014/main" id="{03F860D1-583E-106C-CF9B-F8E9FDA49EF8}"/>
              </a:ext>
            </a:extLst>
          </p:cNvPr>
          <p:cNvPicPr>
            <a:picLocks noChangeAspect="1"/>
          </p:cNvPicPr>
          <p:nvPr/>
        </p:nvPicPr>
        <p:blipFill>
          <a:blip r:embed="rId7"/>
          <a:srcRect l="25848" t="15580" r="26459" b="27667"/>
          <a:stretch>
            <a:fillRect/>
          </a:stretch>
        </p:blipFill>
        <p:spPr>
          <a:xfrm>
            <a:off x="7820970" y="4323551"/>
            <a:ext cx="869854" cy="690071"/>
          </a:xfrm>
          <a:prstGeom prst="rect">
            <a:avLst/>
          </a:prstGeom>
        </p:spPr>
      </p:pic>
      <p:sp>
        <p:nvSpPr>
          <p:cNvPr id="38" name="TextBox 37">
            <a:extLst>
              <a:ext uri="{FF2B5EF4-FFF2-40B4-BE49-F238E27FC236}">
                <a16:creationId xmlns:a16="http://schemas.microsoft.com/office/drawing/2014/main" id="{3EFF4A49-F492-AD7F-F50E-F2AB1CDBAC1C}"/>
              </a:ext>
            </a:extLst>
          </p:cNvPr>
          <p:cNvSpPr txBox="1"/>
          <p:nvPr/>
        </p:nvSpPr>
        <p:spPr>
          <a:xfrm>
            <a:off x="907493" y="3104152"/>
            <a:ext cx="4242216" cy="646331"/>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bg1">
                    <a:lumMod val="65000"/>
                    <a:lumOff val="35000"/>
                  </a:schemeClr>
                </a:solidFill>
                <a:latin typeface="Calibri" panose="020F0502020204030204" pitchFamily="34" charset="0"/>
                <a:ea typeface="Calibri" panose="020F0502020204030204" pitchFamily="34" charset="0"/>
                <a:cs typeface="Calibri" panose="020F0502020204030204" pitchFamily="34" charset="0"/>
              </a:rPr>
              <a:t>Periodic exams verify when they're ready to move on.</a:t>
            </a:r>
          </a:p>
        </p:txBody>
      </p:sp>
    </p:spTree>
    <p:extLst>
      <p:ext uri="{BB962C8B-B14F-4D97-AF65-F5344CB8AC3E}">
        <p14:creationId xmlns:p14="http://schemas.microsoft.com/office/powerpoint/2010/main" val="2949578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50"/>
                                        <p:tgtEl>
                                          <p:spTgt spid="3"/>
                                        </p:tgtEl>
                                      </p:cBhvr>
                                    </p:animEffect>
                                  </p:childTnLst>
                                </p:cTn>
                              </p:par>
                              <p:par>
                                <p:cTn id="11" presetID="10" presetClass="entr" presetSubtype="0" fill="hold"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par>
                                <p:cTn id="14" presetID="10" presetClass="entr" presetSubtype="0" fill="hold" nodeType="withEffect">
                                  <p:stCondLst>
                                    <p:cond delay="0"/>
                                  </p:stCondLst>
                                  <p:childTnLst>
                                    <p:set>
                                      <p:cBhvr>
                                        <p:cTn id="15" dur="1" fill="hold">
                                          <p:stCondLst>
                                            <p:cond delay="0"/>
                                          </p:stCondLst>
                                        </p:cTn>
                                        <p:tgtEl>
                                          <p:spTgt spid="37"/>
                                        </p:tgtEl>
                                        <p:attrNameLst>
                                          <p:attrName>style.visibility</p:attrName>
                                        </p:attrNameLst>
                                      </p:cBhvr>
                                      <p:to>
                                        <p:strVal val="visible"/>
                                      </p:to>
                                    </p:set>
                                    <p:animEffect transition="in" filter="fade">
                                      <p:cBhvr>
                                        <p:cTn id="16" dur="500"/>
                                        <p:tgtEl>
                                          <p:spTgt spid="37"/>
                                        </p:tgtEl>
                                      </p:cBhvr>
                                    </p:animEffect>
                                  </p:childTnLst>
                                </p:cTn>
                              </p:par>
                            </p:childTnLst>
                          </p:cTn>
                        </p:par>
                        <p:par>
                          <p:cTn id="17" fill="hold">
                            <p:stCondLst>
                              <p:cond delay="750"/>
                            </p:stCondLst>
                            <p:childTnLst>
                              <p:par>
                                <p:cTn id="18" presetID="2" presetClass="entr" presetSubtype="8"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 calcmode="lin" valueType="num">
                                      <p:cBhvr additive="base">
                                        <p:cTn id="20" dur="750" fill="hold"/>
                                        <p:tgtEl>
                                          <p:spTgt spid="4"/>
                                        </p:tgtEl>
                                        <p:attrNameLst>
                                          <p:attrName>ppt_x</p:attrName>
                                        </p:attrNameLst>
                                      </p:cBhvr>
                                      <p:tavLst>
                                        <p:tav tm="0">
                                          <p:val>
                                            <p:strVal val="0-#ppt_w/2"/>
                                          </p:val>
                                        </p:tav>
                                        <p:tav tm="100000">
                                          <p:val>
                                            <p:strVal val="#ppt_x"/>
                                          </p:val>
                                        </p:tav>
                                      </p:tavLst>
                                    </p:anim>
                                    <p:anim calcmode="lin" valueType="num">
                                      <p:cBhvr additive="base">
                                        <p:cTn id="21" dur="750" fill="hold"/>
                                        <p:tgtEl>
                                          <p:spTgt spid="4"/>
                                        </p:tgtEl>
                                        <p:attrNameLst>
                                          <p:attrName>ppt_y</p:attrName>
                                        </p:attrNameLst>
                                      </p:cBhvr>
                                      <p:tavLst>
                                        <p:tav tm="0">
                                          <p:val>
                                            <p:strVal val="#ppt_y"/>
                                          </p:val>
                                        </p:tav>
                                        <p:tav tm="100000">
                                          <p:val>
                                            <p:strVal val="#ppt_y"/>
                                          </p:val>
                                        </p:tav>
                                      </p:tavLst>
                                    </p:anim>
                                  </p:childTnLst>
                                </p:cTn>
                              </p:par>
                            </p:childTnLst>
                          </p:cTn>
                        </p:par>
                        <p:par>
                          <p:cTn id="22" fill="hold">
                            <p:stCondLst>
                              <p:cond delay="1500"/>
                            </p:stCondLst>
                            <p:childTnLst>
                              <p:par>
                                <p:cTn id="23" presetID="2" presetClass="entr" presetSubtype="8" fill="hold" grpId="0" nodeType="afterEffect">
                                  <p:stCondLst>
                                    <p:cond delay="750"/>
                                  </p:stCondLst>
                                  <p:childTnLst>
                                    <p:set>
                                      <p:cBhvr>
                                        <p:cTn id="24" dur="1" fill="hold">
                                          <p:stCondLst>
                                            <p:cond delay="0"/>
                                          </p:stCondLst>
                                        </p:cTn>
                                        <p:tgtEl>
                                          <p:spTgt spid="38"/>
                                        </p:tgtEl>
                                        <p:attrNameLst>
                                          <p:attrName>style.visibility</p:attrName>
                                        </p:attrNameLst>
                                      </p:cBhvr>
                                      <p:to>
                                        <p:strVal val="visible"/>
                                      </p:to>
                                    </p:set>
                                    <p:anim calcmode="lin" valueType="num">
                                      <p:cBhvr additive="base">
                                        <p:cTn id="25" dur="500" fill="hold"/>
                                        <p:tgtEl>
                                          <p:spTgt spid="38"/>
                                        </p:tgtEl>
                                        <p:attrNameLst>
                                          <p:attrName>ppt_x</p:attrName>
                                        </p:attrNameLst>
                                      </p:cBhvr>
                                      <p:tavLst>
                                        <p:tav tm="0">
                                          <p:val>
                                            <p:strVal val="0-#ppt_w/2"/>
                                          </p:val>
                                        </p:tav>
                                        <p:tav tm="100000">
                                          <p:val>
                                            <p:strVal val="#ppt_x"/>
                                          </p:val>
                                        </p:tav>
                                      </p:tavLst>
                                    </p:anim>
                                    <p:anim calcmode="lin" valueType="num">
                                      <p:cBhvr additive="base">
                                        <p:cTn id="26" dur="500" fill="hold"/>
                                        <p:tgtEl>
                                          <p:spTgt spid="3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38" grpId="0"/>
    </p:bldLst>
  </p:timing>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home/claude/mytutor/static/shots/parent.png"/>
          <p:cNvPicPr>
            <a:picLocks noChangeAspect="1"/>
          </p:cNvPicPr>
          <p:nvPr/>
        </p:nvPicPr>
        <p:blipFill>
          <a:blip r:embed="rId3"/>
          <a:stretch>
            <a:fillRect/>
          </a:stretch>
        </p:blipFill>
        <p:spPr>
          <a:xfrm>
            <a:off x="395868" y="1129200"/>
            <a:ext cx="4480560" cy="2885100"/>
          </a:xfrm>
          <a:prstGeom prst="rect">
            <a:avLst/>
          </a:prstGeom>
          <a:effectLst>
            <a:outerShdw blurRad="177800" dist="63500" dir="5400000" algn="bl" rotWithShape="0">
              <a:srgbClr val="3C2878">
                <a:alpha val="28000"/>
              </a:srgbClr>
            </a:outerShdw>
          </a:effectLst>
        </p:spPr>
      </p:pic>
      <p:sp>
        <p:nvSpPr>
          <p:cNvPr id="3" name="Text 0"/>
          <p:cNvSpPr/>
          <p:nvPr/>
        </p:nvSpPr>
        <p:spPr>
          <a:xfrm>
            <a:off x="4981247" y="970246"/>
            <a:ext cx="2646185" cy="1280160"/>
          </a:xfrm>
          <a:prstGeom prst="rect">
            <a:avLst/>
          </a:prstGeom>
          <a:noFill/>
          <a:ln/>
        </p:spPr>
        <p:txBody>
          <a:bodyPr wrap="square" rtlCol="0" anchor="ctr"/>
          <a:lstStyle/>
          <a:p>
            <a:pPr marL="0" indent="0">
              <a:buNone/>
            </a:pPr>
            <a:r>
              <a:rPr lang="en-US" sz="2700" b="1" dirty="0">
                <a:solidFill>
                  <a:schemeClr val="accent1">
                    <a:lumMod val="75000"/>
                  </a:schemeClr>
                </a:solidFill>
                <a:latin typeface="Calibri" pitchFamily="34" charset="0"/>
                <a:ea typeface="Calibri" pitchFamily="34" charset="-122"/>
                <a:cs typeface="Calibri" pitchFamily="34" charset="-120"/>
              </a:rPr>
              <a:t>Watch the progress without hovering</a:t>
            </a:r>
            <a:endParaRPr lang="en-US" sz="2700" dirty="0"/>
          </a:p>
        </p:txBody>
      </p:sp>
      <p:sp>
        <p:nvSpPr>
          <p:cNvPr id="4" name="Text 1"/>
          <p:cNvSpPr/>
          <p:nvPr/>
        </p:nvSpPr>
        <p:spPr>
          <a:xfrm>
            <a:off x="5114692" y="2749172"/>
            <a:ext cx="3354287" cy="1280160"/>
          </a:xfrm>
          <a:prstGeom prst="rect">
            <a:avLst/>
          </a:prstGeom>
          <a:noFill/>
          <a:ln/>
        </p:spPr>
        <p:txBody>
          <a:bodyPr wrap="square" rtlCol="0" anchor="ctr"/>
          <a:lstStyle/>
          <a:p>
            <a:pPr>
              <a:lnSpc>
                <a:spcPct val="115000"/>
              </a:lnSpc>
            </a:pPr>
            <a:r>
              <a:rPr lang="en-US" sz="1600" dirty="0">
                <a:solidFill>
                  <a:srgbClr val="5B6079"/>
                </a:solidFill>
                <a:latin typeface="Calibri" pitchFamily="34" charset="0"/>
                <a:ea typeface="Calibri" pitchFamily="34" charset="-122"/>
                <a:cs typeface="Calibri" pitchFamily="34" charset="-120"/>
              </a:rPr>
              <a:t>Your read-only parent view shows what's mastered, what needs work, and exactly where to help next — updated after every lesson.</a:t>
            </a:r>
          </a:p>
        </p:txBody>
      </p:sp>
      <p:pic>
        <p:nvPicPr>
          <p:cNvPr id="6" name="Graphic 5" descr="Gauge">
            <a:extLst>
              <a:ext uri="{FF2B5EF4-FFF2-40B4-BE49-F238E27FC236}">
                <a16:creationId xmlns:a16="http://schemas.microsoft.com/office/drawing/2014/main" id="{EB22BBF6-0D3C-9536-BB84-E03F99D913C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861715" y="1610326"/>
            <a:ext cx="1070519" cy="1070519"/>
          </a:xfrm>
          <a:prstGeom prst="rect">
            <a:avLst/>
          </a:prstGeom>
        </p:spPr>
      </p:pic>
      <p:pic>
        <p:nvPicPr>
          <p:cNvPr id="5" name="Picture 4">
            <a:extLst>
              <a:ext uri="{FF2B5EF4-FFF2-40B4-BE49-F238E27FC236}">
                <a16:creationId xmlns:a16="http://schemas.microsoft.com/office/drawing/2014/main" id="{D741A199-73E4-E606-D49C-567ABB7EB1D0}"/>
              </a:ext>
            </a:extLst>
          </p:cNvPr>
          <p:cNvPicPr>
            <a:picLocks noChangeAspect="1"/>
          </p:cNvPicPr>
          <p:nvPr/>
        </p:nvPicPr>
        <p:blipFill>
          <a:blip r:embed="rId6"/>
          <a:srcRect l="25848" t="15580" r="26459" b="27667"/>
          <a:stretch>
            <a:fillRect/>
          </a:stretch>
        </p:blipFill>
        <p:spPr>
          <a:xfrm>
            <a:off x="7818428" y="4264303"/>
            <a:ext cx="867476" cy="68818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par>
                          <p:cTn id="11" fill="hold">
                            <p:stCondLst>
                              <p:cond delay="500"/>
                            </p:stCondLst>
                            <p:childTnLst>
                              <p:par>
                                <p:cTn id="12" presetID="2" presetClass="entr" presetSubtype="2" fill="hold" grpId="0" nodeType="afterEffect">
                                  <p:stCondLst>
                                    <p:cond delay="50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1+#ppt_w/2"/>
                                          </p:val>
                                        </p:tav>
                                        <p:tav tm="100000">
                                          <p:val>
                                            <p:strVal val="#ppt_x"/>
                                          </p:val>
                                        </p:tav>
                                      </p:tavLst>
                                    </p:anim>
                                    <p:anim calcmode="lin" valueType="num">
                                      <p:cBhvr additive="base">
                                        <p:cTn id="15" dur="500" fill="hold"/>
                                        <p:tgtEl>
                                          <p:spTgt spid="4"/>
                                        </p:tgtEl>
                                        <p:attrNameLst>
                                          <p:attrName>ppt_y</p:attrName>
                                        </p:attrNameLst>
                                      </p:cBhvr>
                                      <p:tavLst>
                                        <p:tav tm="0">
                                          <p:val>
                                            <p:strVal val="#ppt_y"/>
                                          </p:val>
                                        </p:tav>
                                        <p:tav tm="100000">
                                          <p:val>
                                            <p:strVal val="#ppt_y"/>
                                          </p:val>
                                        </p:tav>
                                      </p:tavLst>
                                    </p:anim>
                                  </p:childTnLst>
                                </p:cTn>
                              </p:par>
                              <p:par>
                                <p:cTn id="16" presetID="2" presetClass="entr" presetSubtype="8" fill="hold" nodeType="withEffect">
                                  <p:stCondLst>
                                    <p:cond delay="50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fill="hold"/>
                                        <p:tgtEl>
                                          <p:spTgt spid="2"/>
                                        </p:tgtEl>
                                        <p:attrNameLst>
                                          <p:attrName>ppt_x</p:attrName>
                                        </p:attrNameLst>
                                      </p:cBhvr>
                                      <p:tavLst>
                                        <p:tav tm="0">
                                          <p:val>
                                            <p:strVal val="0-#ppt_w/2"/>
                                          </p:val>
                                        </p:tav>
                                        <p:tav tm="100000">
                                          <p:val>
                                            <p:strVal val="#ppt_x"/>
                                          </p:val>
                                        </p:tav>
                                      </p:tavLst>
                                    </p:anim>
                                    <p:anim calcmode="lin" valueType="num">
                                      <p:cBhvr additive="base">
                                        <p:cTn id="19" dur="500" fill="hold"/>
                                        <p:tgtEl>
                                          <p:spTgt spid="2"/>
                                        </p:tgtEl>
                                        <p:attrNameLst>
                                          <p:attrName>ppt_y</p:attrName>
                                        </p:attrNameLst>
                                      </p:cBhvr>
                                      <p:tavLst>
                                        <p:tav tm="0">
                                          <p:val>
                                            <p:strVal val="#ppt_y"/>
                                          </p:val>
                                        </p:tav>
                                        <p:tav tm="100000">
                                          <p:val>
                                            <p:strVal val="#ppt_y"/>
                                          </p:val>
                                        </p:tav>
                                      </p:tavLst>
                                    </p:anim>
                                  </p:childTnLst>
                                </p:cTn>
                              </p:par>
                              <p:par>
                                <p:cTn id="20" presetID="10" presetClass="entr" presetSubtype="0" fill="hold" nodeType="withEffect">
                                  <p:stCondLst>
                                    <p:cond delay="50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502920"/>
            <a:ext cx="8138160" cy="685800"/>
          </a:xfrm>
          <a:prstGeom prst="rect">
            <a:avLst/>
          </a:prstGeom>
          <a:noFill/>
          <a:ln/>
        </p:spPr>
        <p:txBody>
          <a:bodyPr wrap="square" rtlCol="0" anchor="ctr"/>
          <a:lstStyle/>
          <a:p>
            <a:pPr marL="0" indent="0">
              <a:buNone/>
            </a:pPr>
            <a:r>
              <a:rPr lang="en-US" sz="2700" b="1" dirty="0">
                <a:solidFill>
                  <a:schemeClr val="accent1">
                    <a:lumMod val="75000"/>
                  </a:schemeClr>
                </a:solidFill>
                <a:latin typeface="Calibri" pitchFamily="34" charset="0"/>
                <a:ea typeface="Calibri" pitchFamily="34" charset="-122"/>
                <a:cs typeface="Calibri" pitchFamily="34" charset="-120"/>
              </a:rPr>
              <a:t>When logging hours is effortless</a:t>
            </a:r>
          </a:p>
        </p:txBody>
      </p:sp>
      <p:sp>
        <p:nvSpPr>
          <p:cNvPr id="3" name="Text 1"/>
          <p:cNvSpPr/>
          <p:nvPr/>
        </p:nvSpPr>
        <p:spPr>
          <a:xfrm>
            <a:off x="547744" y="2018190"/>
            <a:ext cx="8138160" cy="502661"/>
          </a:xfrm>
          <a:prstGeom prst="rect">
            <a:avLst/>
          </a:prstGeom>
          <a:noFill/>
          <a:ln/>
        </p:spPr>
        <p:txBody>
          <a:bodyPr wrap="square" rtlCol="0" anchor="ctr"/>
          <a:lstStyle/>
          <a:p>
            <a:pPr marL="285750" indent="-285750">
              <a:lnSpc>
                <a:spcPct val="150000"/>
              </a:lnSpc>
              <a:buFont typeface="Arial" panose="020B0604020202020204" pitchFamily="34" charset="0"/>
              <a:buChar char="•"/>
            </a:pPr>
            <a:r>
              <a:rPr lang="en-US" sz="1600" dirty="0">
                <a:solidFill>
                  <a:srgbClr val="5B6079"/>
                </a:solidFill>
                <a:latin typeface="Calibri" pitchFamily="34" charset="0"/>
                <a:ea typeface="Calibri" pitchFamily="34" charset="-122"/>
                <a:cs typeface="Calibri" pitchFamily="34" charset="-120"/>
              </a:rPr>
              <a:t>A minute counts only when your student is actually working. </a:t>
            </a:r>
            <a:endParaRPr lang="en-US" sz="1600" dirty="0"/>
          </a:p>
        </p:txBody>
      </p:sp>
      <p:pic>
        <p:nvPicPr>
          <p:cNvPr id="4" name="Image 0" descr="/home/claude/mytutor/static/shots/timetile.png"/>
          <p:cNvPicPr>
            <a:picLocks noChangeAspect="1"/>
          </p:cNvPicPr>
          <p:nvPr/>
        </p:nvPicPr>
        <p:blipFill>
          <a:blip r:embed="rId3"/>
          <a:stretch>
            <a:fillRect/>
          </a:stretch>
        </p:blipFill>
        <p:spPr>
          <a:xfrm>
            <a:off x="411480" y="2725305"/>
            <a:ext cx="8229600" cy="1224643"/>
          </a:xfrm>
          <a:prstGeom prst="rect">
            <a:avLst/>
          </a:prstGeom>
          <a:effectLst>
            <a:outerShdw blurRad="177800" dist="63500" dir="5400000" algn="bl" rotWithShape="0">
              <a:srgbClr val="3C2878">
                <a:alpha val="28000"/>
              </a:srgbClr>
            </a:outerShdw>
          </a:effectLst>
        </p:spPr>
      </p:pic>
      <p:pic>
        <p:nvPicPr>
          <p:cNvPr id="5" name="Picture 4">
            <a:extLst>
              <a:ext uri="{FF2B5EF4-FFF2-40B4-BE49-F238E27FC236}">
                <a16:creationId xmlns:a16="http://schemas.microsoft.com/office/drawing/2014/main" id="{22BC1DDA-F872-9F1C-C088-3484AD4133B7}"/>
              </a:ext>
            </a:extLst>
          </p:cNvPr>
          <p:cNvPicPr>
            <a:picLocks noChangeAspect="1"/>
          </p:cNvPicPr>
          <p:nvPr/>
        </p:nvPicPr>
        <p:blipFill>
          <a:blip r:embed="rId4"/>
          <a:srcRect l="25848" t="15580" r="26459" b="27667"/>
          <a:stretch>
            <a:fillRect/>
          </a:stretch>
        </p:blipFill>
        <p:spPr>
          <a:xfrm>
            <a:off x="7818428" y="4264303"/>
            <a:ext cx="867476" cy="688186"/>
          </a:xfrm>
          <a:prstGeom prst="rect">
            <a:avLst/>
          </a:prstGeom>
        </p:spPr>
      </p:pic>
      <p:sp>
        <p:nvSpPr>
          <p:cNvPr id="7" name="TextBox 6">
            <a:extLst>
              <a:ext uri="{FF2B5EF4-FFF2-40B4-BE49-F238E27FC236}">
                <a16:creationId xmlns:a16="http://schemas.microsoft.com/office/drawing/2014/main" id="{952F6C5F-AC13-719B-A8AD-8E33012AB7A5}"/>
              </a:ext>
            </a:extLst>
          </p:cNvPr>
          <p:cNvSpPr txBox="1"/>
          <p:nvPr/>
        </p:nvSpPr>
        <p:spPr>
          <a:xfrm>
            <a:off x="547744" y="1577409"/>
            <a:ext cx="7084137" cy="338554"/>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srgbClr val="5B6079"/>
                </a:solidFill>
                <a:latin typeface="Calibri" pitchFamily="34" charset="0"/>
                <a:ea typeface="Calibri" pitchFamily="34" charset="-122"/>
                <a:cs typeface="Calibri" pitchFamily="34" charset="-120"/>
              </a:rPr>
              <a:t>Instructional hours logs are kept automatically by </a:t>
            </a:r>
            <a:r>
              <a:rPr lang="en-US" sz="1600" dirty="0" err="1">
                <a:solidFill>
                  <a:srgbClr val="5B6079"/>
                </a:solidFill>
                <a:latin typeface="Calibri" pitchFamily="34" charset="0"/>
                <a:ea typeface="Calibri" pitchFamily="34" charset="-122"/>
                <a:cs typeface="Calibri" pitchFamily="34" charset="-120"/>
              </a:rPr>
              <a:t>Mr.Cadabra</a:t>
            </a:r>
            <a:r>
              <a:rPr lang="en-US" sz="1600" dirty="0">
                <a:solidFill>
                  <a:srgbClr val="5B6079"/>
                </a:solidFill>
                <a:latin typeface="Calibri" pitchFamily="34" charset="0"/>
                <a:ea typeface="Calibri" pitchFamily="34" charset="-122"/>
                <a:cs typeface="Calibri" pitchFamily="34" charset="-12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ppt_x</p:attrName>
                                        </p:attrNameLst>
                                      </p:cBhvr>
                                      <p:tavLst>
                                        <p:tav tm="0">
                                          <p:val>
                                            <p:strVal val="#ppt_x"/>
                                          </p:val>
                                        </p:tav>
                                        <p:tav tm="100000">
                                          <p:val>
                                            <p:strVal val="#ppt_x"/>
                                          </p:val>
                                        </p:tav>
                                      </p:tavLst>
                                    </p:anim>
                                    <p:anim calcmode="lin" valueType="num">
                                      <p:cBhvr>
                                        <p:cTn id="13" dur="500" fill="hold"/>
                                        <p:tgtEl>
                                          <p:spTgt spid="7"/>
                                        </p:tgtEl>
                                        <p:attrNameLst>
                                          <p:attrName>ppt_y</p:attrName>
                                        </p:attrNameLst>
                                      </p:cBhvr>
                                      <p:tavLst>
                                        <p:tav tm="0">
                                          <p:val>
                                            <p:strVal val="#ppt_y+.1"/>
                                          </p:val>
                                        </p:tav>
                                        <p:tav tm="100000">
                                          <p:val>
                                            <p:strVal val="#ppt_y"/>
                                          </p:val>
                                        </p:tav>
                                      </p:tavLst>
                                    </p:anim>
                                  </p:childTnLst>
                                </p:cTn>
                              </p:par>
                            </p:childTnLst>
                          </p:cTn>
                        </p:par>
                        <p:par>
                          <p:cTn id="14" fill="hold">
                            <p:stCondLst>
                              <p:cond delay="1000"/>
                            </p:stCondLst>
                            <p:childTnLst>
                              <p:par>
                                <p:cTn id="15" presetID="42" presetClass="entr" presetSubtype="0" fill="hold" grpId="0" nodeType="afterEffect">
                                  <p:stCondLst>
                                    <p:cond delay="25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anim calcmode="lin" valueType="num">
                                      <p:cBhvr>
                                        <p:cTn id="18" dur="500" fill="hold"/>
                                        <p:tgtEl>
                                          <p:spTgt spid="3"/>
                                        </p:tgtEl>
                                        <p:attrNameLst>
                                          <p:attrName>ppt_x</p:attrName>
                                        </p:attrNameLst>
                                      </p:cBhvr>
                                      <p:tavLst>
                                        <p:tav tm="0">
                                          <p:val>
                                            <p:strVal val="#ppt_x"/>
                                          </p:val>
                                        </p:tav>
                                        <p:tav tm="100000">
                                          <p:val>
                                            <p:strVal val="#ppt_x"/>
                                          </p:val>
                                        </p:tav>
                                      </p:tavLst>
                                    </p:anim>
                                    <p:anim calcmode="lin" valueType="num">
                                      <p:cBhvr>
                                        <p:cTn id="19" dur="500" fill="hold"/>
                                        <p:tgtEl>
                                          <p:spTgt spid="3"/>
                                        </p:tgtEl>
                                        <p:attrNameLst>
                                          <p:attrName>ppt_y</p:attrName>
                                        </p:attrNameLst>
                                      </p:cBhvr>
                                      <p:tavLst>
                                        <p:tav tm="0">
                                          <p:val>
                                            <p:strVal val="#ppt_y+.1"/>
                                          </p:val>
                                        </p:tav>
                                        <p:tav tm="100000">
                                          <p:val>
                                            <p:strVal val="#ppt_y"/>
                                          </p:val>
                                        </p:tav>
                                      </p:tavLst>
                                    </p:anim>
                                  </p:childTnLst>
                                </p:cTn>
                              </p:par>
                            </p:childTnLst>
                          </p:cTn>
                        </p:par>
                        <p:par>
                          <p:cTn id="20" fill="hold">
                            <p:stCondLst>
                              <p:cond delay="1750"/>
                            </p:stCondLst>
                            <p:childTnLst>
                              <p:par>
                                <p:cTn id="21" presetID="42" presetClass="entr" presetSubtype="0" fill="hold" nodeType="after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1000"/>
                                        <p:tgtEl>
                                          <p:spTgt spid="4"/>
                                        </p:tgtEl>
                                      </p:cBhvr>
                                    </p:animEffect>
                                    <p:anim calcmode="lin" valueType="num">
                                      <p:cBhvr>
                                        <p:cTn id="24" dur="1000" fill="hold"/>
                                        <p:tgtEl>
                                          <p:spTgt spid="4"/>
                                        </p:tgtEl>
                                        <p:attrNameLst>
                                          <p:attrName>ppt_x</p:attrName>
                                        </p:attrNameLst>
                                      </p:cBhvr>
                                      <p:tavLst>
                                        <p:tav tm="0">
                                          <p:val>
                                            <p:strVal val="#ppt_x"/>
                                          </p:val>
                                        </p:tav>
                                        <p:tav tm="100000">
                                          <p:val>
                                            <p:strVal val="#ppt_x"/>
                                          </p:val>
                                        </p:tav>
                                      </p:tavLst>
                                    </p:anim>
                                    <p:anim calcmode="lin" valueType="num">
                                      <p:cBhvr>
                                        <p:cTn id="25" dur="1000" fill="hold"/>
                                        <p:tgtEl>
                                          <p:spTgt spid="4"/>
                                        </p:tgtEl>
                                        <p:attrNameLst>
                                          <p:attrName>ppt_y</p:attrName>
                                        </p:attrNameLst>
                                      </p:cBhvr>
                                      <p:tavLst>
                                        <p:tav tm="0">
                                          <p:val>
                                            <p:strVal val="#ppt_y+.1"/>
                                          </p:val>
                                        </p:tav>
                                        <p:tav tm="100000">
                                          <p:val>
                                            <p:strVal val="#ppt_y"/>
                                          </p:val>
                                        </p:tav>
                                      </p:tavLst>
                                    </p:anim>
                                  </p:childTnLst>
                                </p:cTn>
                              </p:par>
                              <p:par>
                                <p:cTn id="26" presetID="10" presetClass="entr" presetSubtype="0" fill="hold"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548640"/>
            <a:ext cx="5312664" cy="731520"/>
          </a:xfrm>
          <a:prstGeom prst="rect">
            <a:avLst/>
          </a:prstGeom>
          <a:noFill/>
          <a:ln/>
        </p:spPr>
        <p:txBody>
          <a:bodyPr wrap="square" rtlCol="0" anchor="ctr"/>
          <a:lstStyle/>
          <a:p>
            <a:r>
              <a:rPr lang="en-US" sz="2700" b="1" dirty="0">
                <a:solidFill>
                  <a:schemeClr val="accent1">
                    <a:lumMod val="75000"/>
                  </a:schemeClr>
                </a:solidFill>
                <a:latin typeface="Calibri" pitchFamily="34" charset="0"/>
                <a:ea typeface="Calibri" pitchFamily="34" charset="-122"/>
                <a:cs typeface="Calibri" pitchFamily="34" charset="-120"/>
              </a:rPr>
              <a:t>Homeschool records—done.</a:t>
            </a:r>
            <a:endParaRPr lang="en-US" sz="2700" dirty="0"/>
          </a:p>
        </p:txBody>
      </p:sp>
      <p:sp>
        <p:nvSpPr>
          <p:cNvPr id="3" name="Shape 1"/>
          <p:cNvSpPr/>
          <p:nvPr/>
        </p:nvSpPr>
        <p:spPr>
          <a:xfrm>
            <a:off x="524925" y="1647593"/>
            <a:ext cx="2428290" cy="2659239"/>
          </a:xfrm>
          <a:prstGeom prst="roundRect">
            <a:avLst>
              <a:gd name="adj" fmla="val 4138"/>
            </a:avLst>
          </a:prstGeom>
          <a:solidFill>
            <a:srgbClr val="F6F3FF"/>
          </a:solidFill>
          <a:ln w="12700">
            <a:solidFill>
              <a:srgbClr val="E5DFF7"/>
            </a:solidFill>
            <a:prstDash val="solid"/>
          </a:ln>
          <a:effectLst>
            <a:outerShdw blurRad="177800" dist="63500" dir="5400000" algn="bl" rotWithShape="0">
              <a:srgbClr val="3C2878">
                <a:alpha val="28000"/>
              </a:srgbClr>
            </a:outerShdw>
          </a:effectLst>
        </p:spPr>
      </p:sp>
      <p:sp>
        <p:nvSpPr>
          <p:cNvPr id="5" name="Text 3"/>
          <p:cNvSpPr/>
          <p:nvPr/>
        </p:nvSpPr>
        <p:spPr>
          <a:xfrm>
            <a:off x="685800" y="2514600"/>
            <a:ext cx="2221992" cy="457200"/>
          </a:xfrm>
          <a:prstGeom prst="rect">
            <a:avLst/>
          </a:prstGeom>
          <a:noFill/>
          <a:ln/>
        </p:spPr>
        <p:txBody>
          <a:bodyPr wrap="square" lIns="0" tIns="0" rIns="0" bIns="0" rtlCol="0" anchor="ctr"/>
          <a:lstStyle/>
          <a:p>
            <a:pPr marL="0" indent="0">
              <a:buNone/>
            </a:pPr>
            <a:endParaRPr lang="en-US" sz="1600" dirty="0"/>
          </a:p>
        </p:txBody>
      </p:sp>
      <p:sp>
        <p:nvSpPr>
          <p:cNvPr id="6" name="Text 4"/>
          <p:cNvSpPr/>
          <p:nvPr/>
        </p:nvSpPr>
        <p:spPr>
          <a:xfrm>
            <a:off x="685800" y="2971800"/>
            <a:ext cx="2221992" cy="1143000"/>
          </a:xfrm>
          <a:prstGeom prst="rect">
            <a:avLst/>
          </a:prstGeom>
          <a:noFill/>
          <a:ln/>
        </p:spPr>
        <p:txBody>
          <a:bodyPr wrap="square" lIns="0" tIns="0" rIns="0" bIns="0" rtlCol="0" anchor="ctr"/>
          <a:lstStyle/>
          <a:p>
            <a:pPr marL="0" indent="0">
              <a:lnSpc>
                <a:spcPct val="112000"/>
              </a:lnSpc>
              <a:buNone/>
            </a:pPr>
            <a:endParaRPr lang="en-US" sz="1250" dirty="0"/>
          </a:p>
        </p:txBody>
      </p:sp>
      <p:sp>
        <p:nvSpPr>
          <p:cNvPr id="7" name="Shape 5"/>
          <p:cNvSpPr/>
          <p:nvPr/>
        </p:nvSpPr>
        <p:spPr>
          <a:xfrm>
            <a:off x="3247919" y="1666994"/>
            <a:ext cx="2569174" cy="2659239"/>
          </a:xfrm>
          <a:prstGeom prst="roundRect">
            <a:avLst>
              <a:gd name="adj" fmla="val 4138"/>
            </a:avLst>
          </a:prstGeom>
          <a:solidFill>
            <a:srgbClr val="F6F3FF"/>
          </a:solidFill>
          <a:ln w="12700">
            <a:solidFill>
              <a:srgbClr val="E5DFF7"/>
            </a:solidFill>
            <a:prstDash val="solid"/>
          </a:ln>
          <a:effectLst>
            <a:outerShdw blurRad="177800" dist="63500" dir="5400000" algn="bl" rotWithShape="0">
              <a:srgbClr val="3C2878">
                <a:alpha val="28000"/>
              </a:srgbClr>
            </a:outerShdw>
          </a:effectLst>
        </p:spPr>
        <p:txBody>
          <a:bodyPr/>
          <a:lstStyle/>
          <a:p>
            <a:endParaRPr lang="en-US" dirty="0"/>
          </a:p>
        </p:txBody>
      </p:sp>
      <p:sp>
        <p:nvSpPr>
          <p:cNvPr id="9" name="Text 7"/>
          <p:cNvSpPr/>
          <p:nvPr/>
        </p:nvSpPr>
        <p:spPr>
          <a:xfrm>
            <a:off x="4058748" y="2020444"/>
            <a:ext cx="1756836" cy="640080"/>
          </a:xfrm>
          <a:prstGeom prst="rect">
            <a:avLst/>
          </a:prstGeom>
          <a:noFill/>
          <a:ln/>
        </p:spPr>
        <p:txBody>
          <a:bodyPr wrap="square" lIns="0" tIns="0" rIns="0" bIns="0" rtlCol="0" anchor="ctr"/>
          <a:lstStyle/>
          <a:p>
            <a:r>
              <a:rPr lang="en-US" sz="1600" b="1" dirty="0">
                <a:solidFill>
                  <a:srgbClr val="20233A"/>
                </a:solidFill>
                <a:latin typeface="Calibri" pitchFamily="34" charset="0"/>
                <a:ea typeface="Calibri" pitchFamily="34" charset="-122"/>
                <a:cs typeface="Calibri" pitchFamily="34" charset="-120"/>
              </a:rPr>
              <a:t>A printable plan</a:t>
            </a:r>
            <a:endParaRPr lang="en-US" sz="1600" dirty="0"/>
          </a:p>
          <a:p>
            <a:pPr marL="0" indent="0">
              <a:buNone/>
            </a:pPr>
            <a:endParaRPr lang="en-US" sz="1600" dirty="0"/>
          </a:p>
        </p:txBody>
      </p:sp>
      <p:sp>
        <p:nvSpPr>
          <p:cNvPr id="10" name="Text 8"/>
          <p:cNvSpPr/>
          <p:nvPr/>
        </p:nvSpPr>
        <p:spPr>
          <a:xfrm>
            <a:off x="3479292" y="2969941"/>
            <a:ext cx="2221992" cy="1143000"/>
          </a:xfrm>
          <a:prstGeom prst="rect">
            <a:avLst/>
          </a:prstGeom>
          <a:noFill/>
          <a:ln/>
        </p:spPr>
        <p:txBody>
          <a:bodyPr wrap="square" lIns="0" tIns="0" rIns="0" bIns="0" rtlCol="0" anchor="ctr"/>
          <a:lstStyle/>
          <a:p>
            <a:pPr>
              <a:lnSpc>
                <a:spcPct val="112000"/>
              </a:lnSpc>
            </a:pPr>
            <a:r>
              <a:rPr lang="en-US" sz="1600" dirty="0">
                <a:solidFill>
                  <a:srgbClr val="5B6079"/>
                </a:solidFill>
                <a:latin typeface="Calibri" pitchFamily="34" charset="0"/>
                <a:ea typeface="Calibri" pitchFamily="34" charset="-122"/>
                <a:cs typeface="Calibri" pitchFamily="34" charset="-120"/>
              </a:rPr>
              <a:t>Every course page doubles as a scope &amp; sequence — print it for portfolios and filings.</a:t>
            </a:r>
            <a:endParaRPr lang="en-US" sz="1600" dirty="0"/>
          </a:p>
          <a:p>
            <a:pPr marL="0" indent="0">
              <a:lnSpc>
                <a:spcPct val="112000"/>
              </a:lnSpc>
              <a:buNone/>
            </a:pPr>
            <a:endParaRPr lang="en-US" sz="1250" dirty="0"/>
          </a:p>
        </p:txBody>
      </p:sp>
      <p:sp>
        <p:nvSpPr>
          <p:cNvPr id="11" name="Shape 9"/>
          <p:cNvSpPr/>
          <p:nvPr/>
        </p:nvSpPr>
        <p:spPr>
          <a:xfrm>
            <a:off x="6138749" y="1645919"/>
            <a:ext cx="2532589" cy="2659239"/>
          </a:xfrm>
          <a:prstGeom prst="roundRect">
            <a:avLst>
              <a:gd name="adj" fmla="val 4138"/>
            </a:avLst>
          </a:prstGeom>
          <a:solidFill>
            <a:srgbClr val="F6F3FF"/>
          </a:solidFill>
          <a:ln w="12700">
            <a:solidFill>
              <a:srgbClr val="E5DFF7"/>
            </a:solidFill>
            <a:prstDash val="solid"/>
          </a:ln>
          <a:effectLst>
            <a:outerShdw blurRad="177800" dist="63500" dir="5400000" algn="bl" rotWithShape="0">
              <a:srgbClr val="3C2878">
                <a:alpha val="28000"/>
              </a:srgbClr>
            </a:outerShdw>
          </a:effectLst>
        </p:spPr>
      </p:sp>
      <p:sp>
        <p:nvSpPr>
          <p:cNvPr id="12" name="Text 10"/>
          <p:cNvSpPr/>
          <p:nvPr/>
        </p:nvSpPr>
        <p:spPr>
          <a:xfrm>
            <a:off x="6278364" y="1874520"/>
            <a:ext cx="498906" cy="640080"/>
          </a:xfrm>
          <a:prstGeom prst="rect">
            <a:avLst/>
          </a:prstGeom>
          <a:noFill/>
          <a:ln/>
        </p:spPr>
        <p:txBody>
          <a:bodyPr wrap="square" rtlCol="0" anchor="ctr"/>
          <a:lstStyle/>
          <a:p>
            <a:pPr marL="0" indent="0">
              <a:buNone/>
            </a:pPr>
            <a:r>
              <a:rPr lang="en-US" sz="3000" dirty="0">
                <a:solidFill>
                  <a:srgbClr val="000000"/>
                </a:solidFill>
                <a:latin typeface="Calibri" pitchFamily="34" charset="0"/>
                <a:ea typeface="Calibri" pitchFamily="34" charset="-122"/>
                <a:cs typeface="Calibri" pitchFamily="34" charset="-120"/>
              </a:rPr>
              <a:t>★</a:t>
            </a:r>
            <a:endParaRPr lang="en-US" sz="3000" dirty="0"/>
          </a:p>
        </p:txBody>
      </p:sp>
      <p:sp>
        <p:nvSpPr>
          <p:cNvPr id="13" name="Text 11"/>
          <p:cNvSpPr/>
          <p:nvPr/>
        </p:nvSpPr>
        <p:spPr>
          <a:xfrm>
            <a:off x="6777270" y="2017906"/>
            <a:ext cx="1832294" cy="457200"/>
          </a:xfrm>
          <a:prstGeom prst="rect">
            <a:avLst/>
          </a:prstGeom>
          <a:noFill/>
          <a:ln/>
        </p:spPr>
        <p:txBody>
          <a:bodyPr wrap="square" lIns="0" tIns="0" rIns="0" bIns="0" rtlCol="0" anchor="ctr"/>
          <a:lstStyle/>
          <a:p>
            <a:pPr marL="0" indent="0">
              <a:buNone/>
            </a:pPr>
            <a:r>
              <a:rPr lang="en-US" sz="1600" b="1" dirty="0">
                <a:solidFill>
                  <a:srgbClr val="20233A"/>
                </a:solidFill>
                <a:latin typeface="Calibri" pitchFamily="34" charset="0"/>
                <a:ea typeface="Calibri" pitchFamily="34" charset="-122"/>
                <a:cs typeface="Calibri" pitchFamily="34" charset="-120"/>
              </a:rPr>
              <a:t>Mastery evidence</a:t>
            </a:r>
            <a:endParaRPr lang="en-US" sz="1600" dirty="0"/>
          </a:p>
        </p:txBody>
      </p:sp>
      <p:sp>
        <p:nvSpPr>
          <p:cNvPr id="14" name="Text 12"/>
          <p:cNvSpPr/>
          <p:nvPr/>
        </p:nvSpPr>
        <p:spPr>
          <a:xfrm>
            <a:off x="6449346" y="2913251"/>
            <a:ext cx="2221992" cy="1143000"/>
          </a:xfrm>
          <a:prstGeom prst="rect">
            <a:avLst/>
          </a:prstGeom>
          <a:noFill/>
          <a:ln/>
        </p:spPr>
        <p:txBody>
          <a:bodyPr wrap="square" lIns="0" tIns="0" rIns="0" bIns="0" rtlCol="0" anchor="ctr"/>
          <a:lstStyle/>
          <a:p>
            <a:pPr marL="0" indent="0">
              <a:lnSpc>
                <a:spcPct val="112000"/>
              </a:lnSpc>
              <a:buNone/>
            </a:pPr>
            <a:r>
              <a:rPr lang="en-US" sz="1600" dirty="0">
                <a:solidFill>
                  <a:srgbClr val="5B6079"/>
                </a:solidFill>
                <a:latin typeface="Calibri" pitchFamily="34" charset="0"/>
                <a:ea typeface="Calibri" pitchFamily="34" charset="-122"/>
                <a:cs typeface="Calibri" pitchFamily="34" charset="-120"/>
              </a:rPr>
              <a:t>Scored checks and assessment results — demonstrated skill, not just attendance</a:t>
            </a:r>
            <a:r>
              <a:rPr lang="en-US" sz="1250" dirty="0">
                <a:solidFill>
                  <a:srgbClr val="5B6079"/>
                </a:solidFill>
                <a:latin typeface="Calibri" pitchFamily="34" charset="0"/>
                <a:ea typeface="Calibri" pitchFamily="34" charset="-122"/>
                <a:cs typeface="Calibri" pitchFamily="34" charset="-120"/>
              </a:rPr>
              <a:t>.</a:t>
            </a:r>
            <a:endParaRPr lang="en-US" sz="1250" dirty="0"/>
          </a:p>
        </p:txBody>
      </p:sp>
      <p:pic>
        <p:nvPicPr>
          <p:cNvPr id="16" name="Graphic 15" descr="Paperclip">
            <a:extLst>
              <a:ext uri="{FF2B5EF4-FFF2-40B4-BE49-F238E27FC236}">
                <a16:creationId xmlns:a16="http://schemas.microsoft.com/office/drawing/2014/main" id="{93D3A5DB-A956-C385-1652-C7D25BB031C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13070" y="1237042"/>
            <a:ext cx="914400" cy="914400"/>
          </a:xfrm>
          <a:prstGeom prst="rect">
            <a:avLst/>
          </a:prstGeom>
        </p:spPr>
      </p:pic>
      <p:sp>
        <p:nvSpPr>
          <p:cNvPr id="17" name="TextBox 16">
            <a:extLst>
              <a:ext uri="{FF2B5EF4-FFF2-40B4-BE49-F238E27FC236}">
                <a16:creationId xmlns:a16="http://schemas.microsoft.com/office/drawing/2014/main" id="{CDAFE2BF-DF4A-2A88-760D-C4C1F336E480}"/>
              </a:ext>
            </a:extLst>
          </p:cNvPr>
          <p:cNvSpPr txBox="1"/>
          <p:nvPr/>
        </p:nvSpPr>
        <p:spPr>
          <a:xfrm>
            <a:off x="1094679" y="2063584"/>
            <a:ext cx="1858536" cy="369332"/>
          </a:xfrm>
          <a:prstGeom prst="rect">
            <a:avLst/>
          </a:prstGeom>
          <a:noFill/>
        </p:spPr>
        <p:txBody>
          <a:bodyPr wrap="square" rtlCol="0">
            <a:spAutoFit/>
          </a:bodyPr>
          <a:lstStyle/>
          <a:p>
            <a:r>
              <a:rPr lang="en-US" b="1" dirty="0">
                <a:solidFill>
                  <a:srgbClr val="20233A"/>
                </a:solidFill>
                <a:latin typeface="Calibri" pitchFamily="34" charset="0"/>
                <a:ea typeface="Calibri" pitchFamily="34" charset="-122"/>
                <a:cs typeface="Calibri" pitchFamily="34" charset="-120"/>
              </a:rPr>
              <a:t>An hours log</a:t>
            </a:r>
            <a:endParaRPr lang="en-US" dirty="0"/>
          </a:p>
        </p:txBody>
      </p:sp>
      <p:sp>
        <p:nvSpPr>
          <p:cNvPr id="18" name="TextBox 17">
            <a:extLst>
              <a:ext uri="{FF2B5EF4-FFF2-40B4-BE49-F238E27FC236}">
                <a16:creationId xmlns:a16="http://schemas.microsoft.com/office/drawing/2014/main" id="{0B9C8DE0-363D-6DAC-27C2-6AEE9F7B16DE}"/>
              </a:ext>
            </a:extLst>
          </p:cNvPr>
          <p:cNvSpPr txBox="1"/>
          <p:nvPr/>
        </p:nvSpPr>
        <p:spPr>
          <a:xfrm>
            <a:off x="685800" y="2896970"/>
            <a:ext cx="2012795" cy="1077218"/>
          </a:xfrm>
          <a:prstGeom prst="rect">
            <a:avLst/>
          </a:prstGeom>
          <a:noFill/>
        </p:spPr>
        <p:txBody>
          <a:bodyPr wrap="square" rtlCol="0">
            <a:spAutoFit/>
          </a:bodyPr>
          <a:lstStyle/>
          <a:p>
            <a:r>
              <a:rPr lang="en-US" sz="1600" dirty="0">
                <a:solidFill>
                  <a:srgbClr val="5B6079"/>
                </a:solidFill>
                <a:latin typeface="Calibri" pitchFamily="34" charset="0"/>
                <a:ea typeface="Calibri" pitchFamily="34" charset="-122"/>
                <a:cs typeface="Calibri" pitchFamily="34" charset="-120"/>
              </a:rPr>
              <a:t>Honest instructional minutes per day and per course, kept for you automatically.</a:t>
            </a:r>
          </a:p>
        </p:txBody>
      </p:sp>
      <p:pic>
        <p:nvPicPr>
          <p:cNvPr id="20" name="Graphic 19" descr="Printer">
            <a:extLst>
              <a:ext uri="{FF2B5EF4-FFF2-40B4-BE49-F238E27FC236}">
                <a16:creationId xmlns:a16="http://schemas.microsoft.com/office/drawing/2014/main" id="{2A0C3501-4729-202D-D9DA-45F3C9C83AB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528545" y="2019836"/>
            <a:ext cx="316303" cy="400050"/>
          </a:xfrm>
          <a:prstGeom prst="rect">
            <a:avLst/>
          </a:prstGeom>
        </p:spPr>
      </p:pic>
      <p:pic>
        <p:nvPicPr>
          <p:cNvPr id="22" name="Graphic 21" descr="Clock">
            <a:extLst>
              <a:ext uri="{FF2B5EF4-FFF2-40B4-BE49-F238E27FC236}">
                <a16:creationId xmlns:a16="http://schemas.microsoft.com/office/drawing/2014/main" id="{E50C3BAB-C187-5A34-8A83-7B4AB3031FD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74678" y="1995418"/>
            <a:ext cx="519182" cy="519182"/>
          </a:xfrm>
          <a:prstGeom prst="rect">
            <a:avLst/>
          </a:prstGeom>
        </p:spPr>
      </p:pic>
      <p:pic>
        <p:nvPicPr>
          <p:cNvPr id="4" name="Picture 3">
            <a:extLst>
              <a:ext uri="{FF2B5EF4-FFF2-40B4-BE49-F238E27FC236}">
                <a16:creationId xmlns:a16="http://schemas.microsoft.com/office/drawing/2014/main" id="{5F92FF4A-A7EB-94B7-7663-B4A14770FCBD}"/>
              </a:ext>
            </a:extLst>
          </p:cNvPr>
          <p:cNvPicPr>
            <a:picLocks noChangeAspect="1"/>
          </p:cNvPicPr>
          <p:nvPr/>
        </p:nvPicPr>
        <p:blipFill>
          <a:blip r:embed="rId9"/>
          <a:srcRect l="25848" t="15580" r="26459" b="27667"/>
          <a:stretch>
            <a:fillRect/>
          </a:stretch>
        </p:blipFill>
        <p:spPr>
          <a:xfrm>
            <a:off x="7965108" y="4297680"/>
            <a:ext cx="867476" cy="68818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750"/>
                                        <p:tgtEl>
                                          <p:spTgt spid="3"/>
                                        </p:tgtEl>
                                      </p:cBhvr>
                                    </p:animEffect>
                                    <p:anim calcmode="lin" valueType="num">
                                      <p:cBhvr>
                                        <p:cTn id="12" dur="750" fill="hold"/>
                                        <p:tgtEl>
                                          <p:spTgt spid="3"/>
                                        </p:tgtEl>
                                        <p:attrNameLst>
                                          <p:attrName>ppt_x</p:attrName>
                                        </p:attrNameLst>
                                      </p:cBhvr>
                                      <p:tavLst>
                                        <p:tav tm="0">
                                          <p:val>
                                            <p:strVal val="#ppt_x"/>
                                          </p:val>
                                        </p:tav>
                                        <p:tav tm="100000">
                                          <p:val>
                                            <p:strVal val="#ppt_x"/>
                                          </p:val>
                                        </p:tav>
                                      </p:tavLst>
                                    </p:anim>
                                    <p:anim calcmode="lin" valueType="num">
                                      <p:cBhvr>
                                        <p:cTn id="13" dur="750" fill="hold"/>
                                        <p:tgtEl>
                                          <p:spTgt spid="3"/>
                                        </p:tgtEl>
                                        <p:attrNameLst>
                                          <p:attrName>ppt_y</p:attrName>
                                        </p:attrNameLst>
                                      </p:cBhvr>
                                      <p:tavLst>
                                        <p:tav tm="0">
                                          <p:val>
                                            <p:strVal val="#ppt_y+.1"/>
                                          </p:val>
                                        </p:tav>
                                        <p:tav tm="100000">
                                          <p:val>
                                            <p:strVal val="#ppt_y"/>
                                          </p:val>
                                        </p:tav>
                                      </p:tavLst>
                                    </p:anim>
                                  </p:childTnLst>
                                </p:cTn>
                              </p:par>
                              <p:par>
                                <p:cTn id="14" presetID="42" presetClass="entr" presetSubtype="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750"/>
                                        <p:tgtEl>
                                          <p:spTgt spid="17"/>
                                        </p:tgtEl>
                                      </p:cBhvr>
                                    </p:animEffect>
                                    <p:anim calcmode="lin" valueType="num">
                                      <p:cBhvr>
                                        <p:cTn id="17" dur="750" fill="hold"/>
                                        <p:tgtEl>
                                          <p:spTgt spid="17"/>
                                        </p:tgtEl>
                                        <p:attrNameLst>
                                          <p:attrName>ppt_x</p:attrName>
                                        </p:attrNameLst>
                                      </p:cBhvr>
                                      <p:tavLst>
                                        <p:tav tm="0">
                                          <p:val>
                                            <p:strVal val="#ppt_x"/>
                                          </p:val>
                                        </p:tav>
                                        <p:tav tm="100000">
                                          <p:val>
                                            <p:strVal val="#ppt_x"/>
                                          </p:val>
                                        </p:tav>
                                      </p:tavLst>
                                    </p:anim>
                                    <p:anim calcmode="lin" valueType="num">
                                      <p:cBhvr>
                                        <p:cTn id="18" dur="750" fill="hold"/>
                                        <p:tgtEl>
                                          <p:spTgt spid="17"/>
                                        </p:tgtEl>
                                        <p:attrNameLst>
                                          <p:attrName>ppt_y</p:attrName>
                                        </p:attrNameLst>
                                      </p:cBhvr>
                                      <p:tavLst>
                                        <p:tav tm="0">
                                          <p:val>
                                            <p:strVal val="#ppt_y+.1"/>
                                          </p:val>
                                        </p:tav>
                                        <p:tav tm="100000">
                                          <p:val>
                                            <p:strVal val="#ppt_y"/>
                                          </p:val>
                                        </p:tav>
                                      </p:tavLst>
                                    </p:anim>
                                  </p:childTnLst>
                                </p:cTn>
                              </p:par>
                              <p:par>
                                <p:cTn id="19" presetID="42" presetClass="entr" presetSubtype="0"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750"/>
                                        <p:tgtEl>
                                          <p:spTgt spid="22"/>
                                        </p:tgtEl>
                                      </p:cBhvr>
                                    </p:animEffect>
                                    <p:anim calcmode="lin" valueType="num">
                                      <p:cBhvr>
                                        <p:cTn id="22" dur="750" fill="hold"/>
                                        <p:tgtEl>
                                          <p:spTgt spid="22"/>
                                        </p:tgtEl>
                                        <p:attrNameLst>
                                          <p:attrName>ppt_x</p:attrName>
                                        </p:attrNameLst>
                                      </p:cBhvr>
                                      <p:tavLst>
                                        <p:tav tm="0">
                                          <p:val>
                                            <p:strVal val="#ppt_x"/>
                                          </p:val>
                                        </p:tav>
                                        <p:tav tm="100000">
                                          <p:val>
                                            <p:strVal val="#ppt_x"/>
                                          </p:val>
                                        </p:tav>
                                      </p:tavLst>
                                    </p:anim>
                                    <p:anim calcmode="lin" valueType="num">
                                      <p:cBhvr>
                                        <p:cTn id="23" dur="750" fill="hold"/>
                                        <p:tgtEl>
                                          <p:spTgt spid="22"/>
                                        </p:tgtEl>
                                        <p:attrNameLst>
                                          <p:attrName>ppt_y</p:attrName>
                                        </p:attrNameLst>
                                      </p:cBhvr>
                                      <p:tavLst>
                                        <p:tav tm="0">
                                          <p:val>
                                            <p:strVal val="#ppt_y+.1"/>
                                          </p:val>
                                        </p:tav>
                                        <p:tav tm="100000">
                                          <p:val>
                                            <p:strVal val="#ppt_y"/>
                                          </p:val>
                                        </p:tav>
                                      </p:tavLst>
                                    </p:anim>
                                  </p:childTnLst>
                                </p:cTn>
                              </p:par>
                            </p:childTnLst>
                          </p:cTn>
                        </p:par>
                        <p:par>
                          <p:cTn id="24" fill="hold">
                            <p:stCondLst>
                              <p:cond delay="1250"/>
                            </p:stCondLst>
                            <p:childTnLst>
                              <p:par>
                                <p:cTn id="25" presetID="42" presetClass="entr" presetSubtype="0" fill="hold" grpId="0" nodeType="after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750"/>
                                        <p:tgtEl>
                                          <p:spTgt spid="18"/>
                                        </p:tgtEl>
                                      </p:cBhvr>
                                    </p:animEffect>
                                    <p:anim calcmode="lin" valueType="num">
                                      <p:cBhvr>
                                        <p:cTn id="28" dur="750" fill="hold"/>
                                        <p:tgtEl>
                                          <p:spTgt spid="18"/>
                                        </p:tgtEl>
                                        <p:attrNameLst>
                                          <p:attrName>ppt_x</p:attrName>
                                        </p:attrNameLst>
                                      </p:cBhvr>
                                      <p:tavLst>
                                        <p:tav tm="0">
                                          <p:val>
                                            <p:strVal val="#ppt_x"/>
                                          </p:val>
                                        </p:tav>
                                        <p:tav tm="100000">
                                          <p:val>
                                            <p:strVal val="#ppt_x"/>
                                          </p:val>
                                        </p:tav>
                                      </p:tavLst>
                                    </p:anim>
                                    <p:anim calcmode="lin" valueType="num">
                                      <p:cBhvr>
                                        <p:cTn id="29" dur="750" fill="hold"/>
                                        <p:tgtEl>
                                          <p:spTgt spid="18"/>
                                        </p:tgtEl>
                                        <p:attrNameLst>
                                          <p:attrName>ppt_y</p:attrName>
                                        </p:attrNameLst>
                                      </p:cBhvr>
                                      <p:tavLst>
                                        <p:tav tm="0">
                                          <p:val>
                                            <p:strVal val="#ppt_y+.1"/>
                                          </p:val>
                                        </p:tav>
                                        <p:tav tm="100000">
                                          <p:val>
                                            <p:strVal val="#ppt_y"/>
                                          </p:val>
                                        </p:tav>
                                      </p:tavLst>
                                    </p:anim>
                                  </p:childTnLst>
                                </p:cTn>
                              </p:par>
                            </p:childTnLst>
                          </p:cTn>
                        </p:par>
                        <p:par>
                          <p:cTn id="30" fill="hold">
                            <p:stCondLst>
                              <p:cond delay="2000"/>
                            </p:stCondLst>
                            <p:childTnLst>
                              <p:par>
                                <p:cTn id="31" presetID="42" presetClass="entr" presetSubtype="0" fill="hold" nodeType="afterEffect">
                                  <p:stCondLst>
                                    <p:cond delay="50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750"/>
                                        <p:tgtEl>
                                          <p:spTgt spid="7"/>
                                        </p:tgtEl>
                                      </p:cBhvr>
                                    </p:animEffect>
                                    <p:anim calcmode="lin" valueType="num">
                                      <p:cBhvr>
                                        <p:cTn id="34" dur="750" fill="hold"/>
                                        <p:tgtEl>
                                          <p:spTgt spid="7"/>
                                        </p:tgtEl>
                                        <p:attrNameLst>
                                          <p:attrName>ppt_x</p:attrName>
                                        </p:attrNameLst>
                                      </p:cBhvr>
                                      <p:tavLst>
                                        <p:tav tm="0">
                                          <p:val>
                                            <p:strVal val="#ppt_x"/>
                                          </p:val>
                                        </p:tav>
                                        <p:tav tm="100000">
                                          <p:val>
                                            <p:strVal val="#ppt_x"/>
                                          </p:val>
                                        </p:tav>
                                      </p:tavLst>
                                    </p:anim>
                                    <p:anim calcmode="lin" valueType="num">
                                      <p:cBhvr>
                                        <p:cTn id="35" dur="750" fill="hold"/>
                                        <p:tgtEl>
                                          <p:spTgt spid="7"/>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50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750"/>
                                        <p:tgtEl>
                                          <p:spTgt spid="9"/>
                                        </p:tgtEl>
                                      </p:cBhvr>
                                    </p:animEffect>
                                    <p:anim calcmode="lin" valueType="num">
                                      <p:cBhvr>
                                        <p:cTn id="39" dur="750" fill="hold"/>
                                        <p:tgtEl>
                                          <p:spTgt spid="9"/>
                                        </p:tgtEl>
                                        <p:attrNameLst>
                                          <p:attrName>ppt_x</p:attrName>
                                        </p:attrNameLst>
                                      </p:cBhvr>
                                      <p:tavLst>
                                        <p:tav tm="0">
                                          <p:val>
                                            <p:strVal val="#ppt_x"/>
                                          </p:val>
                                        </p:tav>
                                        <p:tav tm="100000">
                                          <p:val>
                                            <p:strVal val="#ppt_x"/>
                                          </p:val>
                                        </p:tav>
                                      </p:tavLst>
                                    </p:anim>
                                    <p:anim calcmode="lin" valueType="num">
                                      <p:cBhvr>
                                        <p:cTn id="40" dur="750" fill="hold"/>
                                        <p:tgtEl>
                                          <p:spTgt spid="9"/>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50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750"/>
                                        <p:tgtEl>
                                          <p:spTgt spid="20"/>
                                        </p:tgtEl>
                                      </p:cBhvr>
                                    </p:animEffect>
                                    <p:anim calcmode="lin" valueType="num">
                                      <p:cBhvr>
                                        <p:cTn id="44" dur="750" fill="hold"/>
                                        <p:tgtEl>
                                          <p:spTgt spid="20"/>
                                        </p:tgtEl>
                                        <p:attrNameLst>
                                          <p:attrName>ppt_x</p:attrName>
                                        </p:attrNameLst>
                                      </p:cBhvr>
                                      <p:tavLst>
                                        <p:tav tm="0">
                                          <p:val>
                                            <p:strVal val="#ppt_x"/>
                                          </p:val>
                                        </p:tav>
                                        <p:tav tm="100000">
                                          <p:val>
                                            <p:strVal val="#ppt_x"/>
                                          </p:val>
                                        </p:tav>
                                      </p:tavLst>
                                    </p:anim>
                                    <p:anim calcmode="lin" valueType="num">
                                      <p:cBhvr>
                                        <p:cTn id="45" dur="750" fill="hold"/>
                                        <p:tgtEl>
                                          <p:spTgt spid="20"/>
                                        </p:tgtEl>
                                        <p:attrNameLst>
                                          <p:attrName>ppt_y</p:attrName>
                                        </p:attrNameLst>
                                      </p:cBhvr>
                                      <p:tavLst>
                                        <p:tav tm="0">
                                          <p:val>
                                            <p:strVal val="#ppt_y+.1"/>
                                          </p:val>
                                        </p:tav>
                                        <p:tav tm="100000">
                                          <p:val>
                                            <p:strVal val="#ppt_y"/>
                                          </p:val>
                                        </p:tav>
                                      </p:tavLst>
                                    </p:anim>
                                  </p:childTnLst>
                                </p:cTn>
                              </p:par>
                            </p:childTnLst>
                          </p:cTn>
                        </p:par>
                        <p:par>
                          <p:cTn id="46" fill="hold">
                            <p:stCondLst>
                              <p:cond delay="3250"/>
                            </p:stCondLst>
                            <p:childTnLst>
                              <p:par>
                                <p:cTn id="47" presetID="42" presetClass="entr" presetSubtype="0" fill="hold" grpId="0" nodeType="after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750"/>
                                        <p:tgtEl>
                                          <p:spTgt spid="10"/>
                                        </p:tgtEl>
                                      </p:cBhvr>
                                    </p:animEffect>
                                    <p:anim calcmode="lin" valueType="num">
                                      <p:cBhvr>
                                        <p:cTn id="50" dur="750" fill="hold"/>
                                        <p:tgtEl>
                                          <p:spTgt spid="10"/>
                                        </p:tgtEl>
                                        <p:attrNameLst>
                                          <p:attrName>ppt_x</p:attrName>
                                        </p:attrNameLst>
                                      </p:cBhvr>
                                      <p:tavLst>
                                        <p:tav tm="0">
                                          <p:val>
                                            <p:strVal val="#ppt_x"/>
                                          </p:val>
                                        </p:tav>
                                        <p:tav tm="100000">
                                          <p:val>
                                            <p:strVal val="#ppt_x"/>
                                          </p:val>
                                        </p:tav>
                                      </p:tavLst>
                                    </p:anim>
                                    <p:anim calcmode="lin" valueType="num">
                                      <p:cBhvr>
                                        <p:cTn id="51" dur="750" fill="hold"/>
                                        <p:tgtEl>
                                          <p:spTgt spid="10"/>
                                        </p:tgtEl>
                                        <p:attrNameLst>
                                          <p:attrName>ppt_y</p:attrName>
                                        </p:attrNameLst>
                                      </p:cBhvr>
                                      <p:tavLst>
                                        <p:tav tm="0">
                                          <p:val>
                                            <p:strVal val="#ppt_y+.1"/>
                                          </p:val>
                                        </p:tav>
                                        <p:tav tm="100000">
                                          <p:val>
                                            <p:strVal val="#ppt_y"/>
                                          </p:val>
                                        </p:tav>
                                      </p:tavLst>
                                    </p:anim>
                                  </p:childTnLst>
                                </p:cTn>
                              </p:par>
                            </p:childTnLst>
                          </p:cTn>
                        </p:par>
                        <p:par>
                          <p:cTn id="52" fill="hold">
                            <p:stCondLst>
                              <p:cond delay="4000"/>
                            </p:stCondLst>
                            <p:childTnLst>
                              <p:par>
                                <p:cTn id="53" presetID="42" presetClass="entr" presetSubtype="0" fill="hold" nodeType="afterEffect">
                                  <p:stCondLst>
                                    <p:cond delay="500"/>
                                  </p:stCondLst>
                                  <p:childTnLst>
                                    <p:set>
                                      <p:cBhvr>
                                        <p:cTn id="54" dur="1" fill="hold">
                                          <p:stCondLst>
                                            <p:cond delay="0"/>
                                          </p:stCondLst>
                                        </p:cTn>
                                        <p:tgtEl>
                                          <p:spTgt spid="11"/>
                                        </p:tgtEl>
                                        <p:attrNameLst>
                                          <p:attrName>style.visibility</p:attrName>
                                        </p:attrNameLst>
                                      </p:cBhvr>
                                      <p:to>
                                        <p:strVal val="visible"/>
                                      </p:to>
                                    </p:set>
                                    <p:animEffect transition="in" filter="fade">
                                      <p:cBhvr>
                                        <p:cTn id="55" dur="750"/>
                                        <p:tgtEl>
                                          <p:spTgt spid="11"/>
                                        </p:tgtEl>
                                      </p:cBhvr>
                                    </p:animEffect>
                                    <p:anim calcmode="lin" valueType="num">
                                      <p:cBhvr>
                                        <p:cTn id="56" dur="750" fill="hold"/>
                                        <p:tgtEl>
                                          <p:spTgt spid="11"/>
                                        </p:tgtEl>
                                        <p:attrNameLst>
                                          <p:attrName>ppt_x</p:attrName>
                                        </p:attrNameLst>
                                      </p:cBhvr>
                                      <p:tavLst>
                                        <p:tav tm="0">
                                          <p:val>
                                            <p:strVal val="#ppt_x"/>
                                          </p:val>
                                        </p:tav>
                                        <p:tav tm="100000">
                                          <p:val>
                                            <p:strVal val="#ppt_x"/>
                                          </p:val>
                                        </p:tav>
                                      </p:tavLst>
                                    </p:anim>
                                    <p:anim calcmode="lin" valueType="num">
                                      <p:cBhvr>
                                        <p:cTn id="57" dur="750" fill="hold"/>
                                        <p:tgtEl>
                                          <p:spTgt spid="11"/>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500"/>
                                  </p:stCondLst>
                                  <p:childTnLst>
                                    <p:set>
                                      <p:cBhvr>
                                        <p:cTn id="59" dur="1" fill="hold">
                                          <p:stCondLst>
                                            <p:cond delay="0"/>
                                          </p:stCondLst>
                                        </p:cTn>
                                        <p:tgtEl>
                                          <p:spTgt spid="12"/>
                                        </p:tgtEl>
                                        <p:attrNameLst>
                                          <p:attrName>style.visibility</p:attrName>
                                        </p:attrNameLst>
                                      </p:cBhvr>
                                      <p:to>
                                        <p:strVal val="visible"/>
                                      </p:to>
                                    </p:set>
                                    <p:animEffect transition="in" filter="fade">
                                      <p:cBhvr>
                                        <p:cTn id="60" dur="750"/>
                                        <p:tgtEl>
                                          <p:spTgt spid="12"/>
                                        </p:tgtEl>
                                      </p:cBhvr>
                                    </p:animEffect>
                                    <p:anim calcmode="lin" valueType="num">
                                      <p:cBhvr>
                                        <p:cTn id="61" dur="750" fill="hold"/>
                                        <p:tgtEl>
                                          <p:spTgt spid="12"/>
                                        </p:tgtEl>
                                        <p:attrNameLst>
                                          <p:attrName>ppt_x</p:attrName>
                                        </p:attrNameLst>
                                      </p:cBhvr>
                                      <p:tavLst>
                                        <p:tav tm="0">
                                          <p:val>
                                            <p:strVal val="#ppt_x"/>
                                          </p:val>
                                        </p:tav>
                                        <p:tav tm="100000">
                                          <p:val>
                                            <p:strVal val="#ppt_x"/>
                                          </p:val>
                                        </p:tav>
                                      </p:tavLst>
                                    </p:anim>
                                    <p:anim calcmode="lin" valueType="num">
                                      <p:cBhvr>
                                        <p:cTn id="62" dur="750" fill="hold"/>
                                        <p:tgtEl>
                                          <p:spTgt spid="12"/>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500"/>
                                  </p:stCondLst>
                                  <p:childTnLst>
                                    <p:set>
                                      <p:cBhvr>
                                        <p:cTn id="64" dur="1" fill="hold">
                                          <p:stCondLst>
                                            <p:cond delay="0"/>
                                          </p:stCondLst>
                                        </p:cTn>
                                        <p:tgtEl>
                                          <p:spTgt spid="13"/>
                                        </p:tgtEl>
                                        <p:attrNameLst>
                                          <p:attrName>style.visibility</p:attrName>
                                        </p:attrNameLst>
                                      </p:cBhvr>
                                      <p:to>
                                        <p:strVal val="visible"/>
                                      </p:to>
                                    </p:set>
                                    <p:animEffect transition="in" filter="fade">
                                      <p:cBhvr>
                                        <p:cTn id="65" dur="750"/>
                                        <p:tgtEl>
                                          <p:spTgt spid="13"/>
                                        </p:tgtEl>
                                      </p:cBhvr>
                                    </p:animEffect>
                                    <p:anim calcmode="lin" valueType="num">
                                      <p:cBhvr>
                                        <p:cTn id="66" dur="750" fill="hold"/>
                                        <p:tgtEl>
                                          <p:spTgt spid="13"/>
                                        </p:tgtEl>
                                        <p:attrNameLst>
                                          <p:attrName>ppt_x</p:attrName>
                                        </p:attrNameLst>
                                      </p:cBhvr>
                                      <p:tavLst>
                                        <p:tav tm="0">
                                          <p:val>
                                            <p:strVal val="#ppt_x"/>
                                          </p:val>
                                        </p:tav>
                                        <p:tav tm="100000">
                                          <p:val>
                                            <p:strVal val="#ppt_x"/>
                                          </p:val>
                                        </p:tav>
                                      </p:tavLst>
                                    </p:anim>
                                    <p:anim calcmode="lin" valueType="num">
                                      <p:cBhvr>
                                        <p:cTn id="67" dur="750" fill="hold"/>
                                        <p:tgtEl>
                                          <p:spTgt spid="13"/>
                                        </p:tgtEl>
                                        <p:attrNameLst>
                                          <p:attrName>ppt_y</p:attrName>
                                        </p:attrNameLst>
                                      </p:cBhvr>
                                      <p:tavLst>
                                        <p:tav tm="0">
                                          <p:val>
                                            <p:strVal val="#ppt_y+.1"/>
                                          </p:val>
                                        </p:tav>
                                        <p:tav tm="100000">
                                          <p:val>
                                            <p:strVal val="#ppt_y"/>
                                          </p:val>
                                        </p:tav>
                                      </p:tavLst>
                                    </p:anim>
                                  </p:childTnLst>
                                </p:cTn>
                              </p:par>
                            </p:childTnLst>
                          </p:cTn>
                        </p:par>
                        <p:par>
                          <p:cTn id="68" fill="hold">
                            <p:stCondLst>
                              <p:cond delay="5250"/>
                            </p:stCondLst>
                            <p:childTnLst>
                              <p:par>
                                <p:cTn id="69" presetID="42" presetClass="entr" presetSubtype="0" fill="hold" grpId="0" nodeType="after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fade">
                                      <p:cBhvr>
                                        <p:cTn id="71" dur="750"/>
                                        <p:tgtEl>
                                          <p:spTgt spid="14"/>
                                        </p:tgtEl>
                                      </p:cBhvr>
                                    </p:animEffect>
                                    <p:anim calcmode="lin" valueType="num">
                                      <p:cBhvr>
                                        <p:cTn id="72" dur="750" fill="hold"/>
                                        <p:tgtEl>
                                          <p:spTgt spid="14"/>
                                        </p:tgtEl>
                                        <p:attrNameLst>
                                          <p:attrName>ppt_x</p:attrName>
                                        </p:attrNameLst>
                                      </p:cBhvr>
                                      <p:tavLst>
                                        <p:tav tm="0">
                                          <p:val>
                                            <p:strVal val="#ppt_x"/>
                                          </p:val>
                                        </p:tav>
                                        <p:tav tm="100000">
                                          <p:val>
                                            <p:strVal val="#ppt_x"/>
                                          </p:val>
                                        </p:tav>
                                      </p:tavLst>
                                    </p:anim>
                                    <p:anim calcmode="lin" valueType="num">
                                      <p:cBhvr>
                                        <p:cTn id="73" dur="750" fill="hold"/>
                                        <p:tgtEl>
                                          <p:spTgt spid="14"/>
                                        </p:tgtEl>
                                        <p:attrNameLst>
                                          <p:attrName>ppt_y</p:attrName>
                                        </p:attrNameLst>
                                      </p:cBhvr>
                                      <p:tavLst>
                                        <p:tav tm="0">
                                          <p:val>
                                            <p:strVal val="#ppt_y+.1"/>
                                          </p:val>
                                        </p:tav>
                                        <p:tav tm="100000">
                                          <p:val>
                                            <p:strVal val="#ppt_y"/>
                                          </p:val>
                                        </p:tav>
                                      </p:tavLst>
                                    </p:anim>
                                  </p:childTnLst>
                                </p:cTn>
                              </p:par>
                            </p:childTnLst>
                          </p:cTn>
                        </p:par>
                        <p:par>
                          <p:cTn id="74" fill="hold">
                            <p:stCondLst>
                              <p:cond delay="6000"/>
                            </p:stCondLst>
                            <p:childTnLst>
                              <p:par>
                                <p:cTn id="75" presetID="2" presetClass="entr" presetSubtype="1" fill="hold" nodeType="afterEffect">
                                  <p:stCondLst>
                                    <p:cond delay="0"/>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500" fill="hold"/>
                                        <p:tgtEl>
                                          <p:spTgt spid="16"/>
                                        </p:tgtEl>
                                        <p:attrNameLst>
                                          <p:attrName>ppt_x</p:attrName>
                                        </p:attrNameLst>
                                      </p:cBhvr>
                                      <p:tavLst>
                                        <p:tav tm="0">
                                          <p:val>
                                            <p:strVal val="#ppt_x"/>
                                          </p:val>
                                        </p:tav>
                                        <p:tav tm="100000">
                                          <p:val>
                                            <p:strVal val="#ppt_x"/>
                                          </p:val>
                                        </p:tav>
                                      </p:tavLst>
                                    </p:anim>
                                    <p:anim calcmode="lin" valueType="num">
                                      <p:cBhvr additive="base">
                                        <p:cTn id="78" dur="500" fill="hold"/>
                                        <p:tgtEl>
                                          <p:spTgt spid="16"/>
                                        </p:tgtEl>
                                        <p:attrNameLst>
                                          <p:attrName>ppt_y</p:attrName>
                                        </p:attrNameLst>
                                      </p:cBhvr>
                                      <p:tavLst>
                                        <p:tav tm="0">
                                          <p:val>
                                            <p:strVal val="0-#ppt_h/2"/>
                                          </p:val>
                                        </p:tav>
                                        <p:tav tm="100000">
                                          <p:val>
                                            <p:strVal val="#ppt_y"/>
                                          </p:val>
                                        </p:tav>
                                      </p:tavLst>
                                    </p:anim>
                                  </p:childTnLst>
                                </p:cTn>
                              </p:par>
                            </p:childTnLst>
                          </p:cTn>
                        </p:par>
                        <p:par>
                          <p:cTn id="79" fill="hold">
                            <p:stCondLst>
                              <p:cond delay="6500"/>
                            </p:stCondLst>
                            <p:childTnLst>
                              <p:par>
                                <p:cTn id="80" presetID="10" presetClass="entr" presetSubtype="0" fill="hold" nodeType="afterEffect">
                                  <p:stCondLst>
                                    <p:cond delay="0"/>
                                  </p:stCondLst>
                                  <p:childTnLst>
                                    <p:set>
                                      <p:cBhvr>
                                        <p:cTn id="81" dur="1" fill="hold">
                                          <p:stCondLst>
                                            <p:cond delay="0"/>
                                          </p:stCondLst>
                                        </p:cTn>
                                        <p:tgtEl>
                                          <p:spTgt spid="4"/>
                                        </p:tgtEl>
                                        <p:attrNameLst>
                                          <p:attrName>style.visibility</p:attrName>
                                        </p:attrNameLst>
                                      </p:cBhvr>
                                      <p:to>
                                        <p:strVal val="visible"/>
                                      </p:to>
                                    </p:set>
                                    <p:animEffect transition="in" filter="fade">
                                      <p:cBhvr>
                                        <p:cTn id="8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P spid="10" grpId="0" animBg="1"/>
      <p:bldP spid="12" grpId="0" animBg="1"/>
      <p:bldP spid="13" grpId="0" animBg="1"/>
      <p:bldP spid="14" grpId="0" animBg="1"/>
      <p:bldP spid="17" grpId="0"/>
      <p:bldP spid="18" grpId="0"/>
    </p:bldLst>
  </p:timing>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home/claude/mytutor/gamma/grad.png"/>
          <p:cNvPicPr>
            <a:picLocks noChangeAspect="1"/>
          </p:cNvPicPr>
          <p:nvPr/>
        </p:nvPicPr>
        <p:blipFill>
          <a:blip r:embed="rId3"/>
          <a:stretch>
            <a:fillRect/>
          </a:stretch>
        </p:blipFill>
        <p:spPr>
          <a:xfrm>
            <a:off x="-6137" y="0"/>
            <a:ext cx="9144000" cy="5143500"/>
          </a:xfrm>
          <a:prstGeom prst="rect">
            <a:avLst/>
          </a:prstGeom>
        </p:spPr>
      </p:pic>
      <p:sp>
        <p:nvSpPr>
          <p:cNvPr id="4" name="Text 1"/>
          <p:cNvSpPr/>
          <p:nvPr/>
        </p:nvSpPr>
        <p:spPr>
          <a:xfrm>
            <a:off x="826491" y="2536819"/>
            <a:ext cx="6949440" cy="957589"/>
          </a:xfrm>
          <a:prstGeom prst="rect">
            <a:avLst/>
          </a:prstGeom>
          <a:noFill/>
          <a:ln/>
        </p:spPr>
        <p:txBody>
          <a:bodyPr wrap="square" rtlCol="0" anchor="ctr"/>
          <a:lstStyle/>
          <a:p>
            <a:r>
              <a:rPr lang="en-US" sz="2800" b="1" dirty="0">
                <a:solidFill>
                  <a:srgbClr val="F0EDFF"/>
                </a:solidFill>
                <a:latin typeface="Calibri" pitchFamily="34" charset="0"/>
                <a:ea typeface="Calibri" pitchFamily="34" charset="-122"/>
                <a:cs typeface="Calibri" pitchFamily="34" charset="-120"/>
              </a:rPr>
              <a:t>Try your first lesson free</a:t>
            </a:r>
            <a:r>
              <a:rPr lang="en-US" sz="2800" b="1" dirty="0">
                <a:latin typeface="Calibri" panose="020F0502020204030204" pitchFamily="34" charset="0"/>
                <a:ea typeface="Calibri" panose="020F0502020204030204" pitchFamily="34" charset="0"/>
                <a:cs typeface="Calibri" panose="020F0502020204030204" pitchFamily="34" charset="0"/>
              </a:rPr>
              <a:t>—n</a:t>
            </a:r>
            <a:r>
              <a:rPr lang="en-US" sz="2800" b="1" dirty="0">
                <a:solidFill>
                  <a:srgbClr val="F0EDFF"/>
                </a:solidFill>
                <a:latin typeface="Calibri" panose="020F0502020204030204" pitchFamily="34" charset="0"/>
                <a:ea typeface="Calibri" panose="020F0502020204030204" pitchFamily="34" charset="0"/>
                <a:cs typeface="Calibri" panose="020F0502020204030204" pitchFamily="34" charset="0"/>
              </a:rPr>
              <a:t>o </a:t>
            </a:r>
            <a:r>
              <a:rPr lang="en-US" sz="2800" b="1" dirty="0">
                <a:solidFill>
                  <a:srgbClr val="F0EDFF"/>
                </a:solidFill>
                <a:latin typeface="Calibri" pitchFamily="34" charset="0"/>
                <a:ea typeface="Calibri" pitchFamily="34" charset="-122"/>
                <a:cs typeface="Calibri" pitchFamily="34" charset="-120"/>
              </a:rPr>
              <a:t>credit card or microphone required. </a:t>
            </a:r>
            <a:endParaRPr lang="en-US" sz="2800" b="1" dirty="0"/>
          </a:p>
        </p:txBody>
      </p:sp>
      <p:sp>
        <p:nvSpPr>
          <p:cNvPr id="5" name="Text 2"/>
          <p:cNvSpPr/>
          <p:nvPr/>
        </p:nvSpPr>
        <p:spPr>
          <a:xfrm>
            <a:off x="814982" y="3578673"/>
            <a:ext cx="4572002" cy="457200"/>
          </a:xfrm>
          <a:prstGeom prst="rect">
            <a:avLst/>
          </a:prstGeom>
          <a:noFill/>
          <a:ln/>
        </p:spPr>
        <p:txBody>
          <a:bodyPr wrap="square" rtlCol="0" anchor="ctr"/>
          <a:lstStyle/>
          <a:p>
            <a:pPr marL="0" indent="0">
              <a:buNone/>
            </a:pPr>
            <a:r>
              <a:rPr lang="en-US" sz="2400" dirty="0">
                <a:solidFill>
                  <a:schemeClr val="accent4"/>
                </a:solidFill>
                <a:latin typeface="Calibri" pitchFamily="34" charset="0"/>
                <a:ea typeface="Calibri" pitchFamily="34" charset="-122"/>
                <a:cs typeface="Calibri" pitchFamily="34" charset="-120"/>
              </a:rPr>
              <a:t>mrcadabra.com/homeschool</a:t>
            </a:r>
            <a:endParaRPr lang="en-US" sz="2400" dirty="0">
              <a:solidFill>
                <a:schemeClr val="accent4"/>
              </a:solidFill>
            </a:endParaRPr>
          </a:p>
        </p:txBody>
      </p:sp>
      <p:pic>
        <p:nvPicPr>
          <p:cNvPr id="6" name="Picture 5">
            <a:extLst>
              <a:ext uri="{FF2B5EF4-FFF2-40B4-BE49-F238E27FC236}">
                <a16:creationId xmlns:a16="http://schemas.microsoft.com/office/drawing/2014/main" id="{191E627B-5ADB-CE4D-4289-59126138482B}"/>
              </a:ext>
            </a:extLst>
          </p:cNvPr>
          <p:cNvPicPr>
            <a:picLocks noChangeAspect="1"/>
          </p:cNvPicPr>
          <p:nvPr/>
        </p:nvPicPr>
        <p:blipFill>
          <a:blip r:embed="rId4"/>
          <a:srcRect l="21582" t="17099" r="22914" b="22091"/>
          <a:stretch>
            <a:fillRect/>
          </a:stretch>
        </p:blipFill>
        <p:spPr>
          <a:xfrm>
            <a:off x="476954" y="456457"/>
            <a:ext cx="2720824" cy="1987294"/>
          </a:xfrm>
          <a:prstGeom prst="rect">
            <a:avLst/>
          </a:prstGeom>
        </p:spPr>
      </p:pic>
      <p:sp>
        <p:nvSpPr>
          <p:cNvPr id="3" name="Text 0"/>
          <p:cNvSpPr/>
          <p:nvPr/>
        </p:nvSpPr>
        <p:spPr>
          <a:xfrm>
            <a:off x="2796442" y="424536"/>
            <a:ext cx="5683547" cy="796748"/>
          </a:xfrm>
          <a:prstGeom prst="rect">
            <a:avLst/>
          </a:prstGeom>
          <a:noFill/>
          <a:ln/>
        </p:spPr>
        <p:txBody>
          <a:bodyPr wrap="square"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Ready to meet </a:t>
            </a:r>
            <a:r>
              <a:rPr lang="en-US" sz="3200" b="1" dirty="0" err="1">
                <a:solidFill>
                  <a:srgbClr val="FFFFFF"/>
                </a:solidFill>
                <a:latin typeface="Calibri" pitchFamily="34" charset="0"/>
                <a:ea typeface="Calibri" pitchFamily="34" charset="-122"/>
                <a:cs typeface="Calibri" pitchFamily="34" charset="-120"/>
              </a:rPr>
              <a:t>Mr.Cadabra</a:t>
            </a:r>
            <a:r>
              <a:rPr lang="en-US" sz="3200" b="1" dirty="0">
                <a:solidFill>
                  <a:srgbClr val="FFFFFF"/>
                </a:solidFill>
                <a:latin typeface="Calibri" pitchFamily="34" charset="0"/>
                <a:ea typeface="Calibri" pitchFamily="34" charset="-122"/>
                <a:cs typeface="Calibri" pitchFamily="34" charset="-120"/>
              </a:rPr>
              <a:t>?</a:t>
            </a:r>
            <a:endParaRPr lang="en-US" sz="3200" dirty="0"/>
          </a:p>
        </p:txBody>
      </p:sp>
      <p:sp>
        <p:nvSpPr>
          <p:cNvPr id="7" name="TextBox 6">
            <a:extLst>
              <a:ext uri="{FF2B5EF4-FFF2-40B4-BE49-F238E27FC236}">
                <a16:creationId xmlns:a16="http://schemas.microsoft.com/office/drawing/2014/main" id="{BEE03F94-CD0E-64D8-CF3D-8539151C76FB}"/>
              </a:ext>
            </a:extLst>
          </p:cNvPr>
          <p:cNvSpPr txBox="1"/>
          <p:nvPr/>
        </p:nvSpPr>
        <p:spPr>
          <a:xfrm>
            <a:off x="814982" y="4134196"/>
            <a:ext cx="7733738" cy="584775"/>
          </a:xfrm>
          <a:prstGeom prst="rect">
            <a:avLst/>
          </a:prstGeom>
          <a:noFill/>
        </p:spPr>
        <p:txBody>
          <a:bodyPr wrap="square" rtlCol="0">
            <a:spAutoFit/>
          </a:bodyPr>
          <a:lstStyle/>
          <a:p>
            <a:r>
              <a:rPr lang="en-US" sz="1600" dirty="0">
                <a:solidFill>
                  <a:srgbClr val="002060"/>
                </a:solidFill>
                <a:latin typeface="Calibri" pitchFamily="34" charset="0"/>
                <a:ea typeface="Calibri" pitchFamily="34" charset="-122"/>
                <a:cs typeface="Calibri" pitchFamily="34" charset="-120"/>
              </a:rPr>
              <a:t>Become one of our first homeschool families to receive introductory pricing </a:t>
            </a:r>
          </a:p>
          <a:p>
            <a:r>
              <a:rPr lang="en-US" sz="1600" dirty="0">
                <a:solidFill>
                  <a:srgbClr val="002060"/>
                </a:solidFill>
                <a:latin typeface="Calibri" pitchFamily="34" charset="0"/>
                <a:ea typeface="Calibri" pitchFamily="34" charset="-122"/>
                <a:cs typeface="Calibri" pitchFamily="34" charset="-120"/>
              </a:rPr>
              <a:t>and help shape what’s next.</a:t>
            </a:r>
            <a:endParaRPr lang="en-US" sz="1600" dirty="0">
              <a:solidFill>
                <a:srgbClr val="002060"/>
              </a:solidFill>
            </a:endParaRPr>
          </a:p>
        </p:txBody>
      </p:sp>
      <p:sp>
        <p:nvSpPr>
          <p:cNvPr id="8" name="TextBox 7">
            <a:extLst>
              <a:ext uri="{FF2B5EF4-FFF2-40B4-BE49-F238E27FC236}">
                <a16:creationId xmlns:a16="http://schemas.microsoft.com/office/drawing/2014/main" id="{4668D0DF-5ACB-45C9-8E5B-71F630A89EE2}"/>
              </a:ext>
            </a:extLst>
          </p:cNvPr>
          <p:cNvSpPr txBox="1"/>
          <p:nvPr/>
        </p:nvSpPr>
        <p:spPr>
          <a:xfrm>
            <a:off x="762902" y="2070385"/>
            <a:ext cx="2281006" cy="276999"/>
          </a:xfrm>
          <a:prstGeom prst="rect">
            <a:avLst/>
          </a:prstGeom>
          <a:noFill/>
        </p:spPr>
        <p:txBody>
          <a:bodyPr wrap="square" rtlCol="0">
            <a:spAutoFit/>
          </a:bodyPr>
          <a:lstStyle/>
          <a:p>
            <a:pPr algn="ctr"/>
            <a:r>
              <a:rPr lang="en-US" sz="1200" dirty="0">
                <a:solidFill>
                  <a:schemeClr val="accent4"/>
                </a:solidFill>
              </a:rPr>
              <a:t>— </a:t>
            </a:r>
            <a:r>
              <a:rPr lang="en-US" sz="1200" dirty="0"/>
              <a:t>  </a:t>
            </a:r>
            <a:r>
              <a:rPr lang="en-US" sz="1200" dirty="0">
                <a:solidFill>
                  <a:srgbClr val="002060"/>
                </a:solidFill>
                <a:latin typeface="+mj-lt"/>
                <a:ea typeface="Calibri" panose="020F0502020204030204" pitchFamily="34" charset="0"/>
                <a:cs typeface="Calibri" panose="020F0502020204030204" pitchFamily="34" charset="0"/>
              </a:rPr>
              <a:t>AI-Powered  Tutor  </a:t>
            </a:r>
            <a:r>
              <a:rPr lang="en-US" sz="1200" dirty="0">
                <a:solidFill>
                  <a:schemeClr val="accent4"/>
                </a:solidFill>
              </a:rPr>
              <a:t>—</a:t>
            </a:r>
            <a:endParaRPr lang="en-US" sz="1200" dirty="0">
              <a:solidFill>
                <a:schemeClr val="accent4"/>
              </a:solidFill>
              <a:latin typeface="+mj-lt"/>
              <a:ea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par>
                          <p:cTn id="11" fill="hold">
                            <p:stCondLst>
                              <p:cond delay="500"/>
                            </p:stCondLst>
                            <p:childTnLst>
                              <p:par>
                                <p:cTn id="12" presetID="10" presetClass="entr" presetSubtype="0" fill="hold" grpId="0" nodeType="after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500"/>
                                        <p:tgtEl>
                                          <p:spTgt spid="3"/>
                                        </p:tgtEl>
                                      </p:cBhvr>
                                    </p:animEffect>
                                  </p:childTnLst>
                                </p:cTn>
                              </p:par>
                            </p:childTnLst>
                          </p:cTn>
                        </p:par>
                        <p:par>
                          <p:cTn id="15" fill="hold">
                            <p:stCondLst>
                              <p:cond delay="1500"/>
                            </p:stCondLst>
                            <p:childTnLst>
                              <p:par>
                                <p:cTn id="16" presetID="10" presetClass="entr" presetSubtype="0" fill="hold" grpId="0" nodeType="afterEffect">
                                  <p:stCondLst>
                                    <p:cond delay="50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childTnLst>
                          </p:cTn>
                        </p:par>
                        <p:par>
                          <p:cTn id="19" fill="hold">
                            <p:stCondLst>
                              <p:cond delay="2500"/>
                            </p:stCondLst>
                            <p:childTnLst>
                              <p:par>
                                <p:cTn id="20" presetID="10" presetClass="entr" presetSubtype="0" fill="hold" grpId="0" nodeType="afterEffect">
                                  <p:stCondLst>
                                    <p:cond delay="25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par>
                          <p:cTn id="23" fill="hold">
                            <p:stCondLst>
                              <p:cond delay="3250"/>
                            </p:stCondLst>
                            <p:childTnLst>
                              <p:par>
                                <p:cTn id="24" presetID="10" presetClass="entr" presetSubtype="0" fill="hold" grpId="0" nodeType="afterEffect">
                                  <p:stCondLst>
                                    <p:cond delay="25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3" grpId="0" animBg="1"/>
      <p:bldP spid="7" grpId="0"/>
      <p:bldP spid="8"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3396</TotalTime>
  <Words>815</Words>
  <Application>Microsoft Office PowerPoint</Application>
  <PresentationFormat>On-screen Show (16:9)</PresentationFormat>
  <Paragraphs>47</Paragraphs>
  <Slides>7</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Calibri</vt:lpstr>
      <vt:lpstr>Century Gothic</vt:lpstr>
      <vt:lpstr>Consolas</vt:lpstr>
      <vt:lpstr>Courier New</vt:lpstr>
      <vt:lpstr>Wingdings 2</vt:lpstr>
      <vt:lpstr>Quotable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Erika Simo</cp:lastModifiedBy>
  <cp:revision>22</cp:revision>
  <dcterms:created xsi:type="dcterms:W3CDTF">2026-07-31T01:05:45Z</dcterms:created>
  <dcterms:modified xsi:type="dcterms:W3CDTF">2026-08-07T23:55:17Z</dcterms:modified>
</cp:coreProperties>
</file>