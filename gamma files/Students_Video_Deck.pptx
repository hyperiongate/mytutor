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MyTutor, and that's Mr. Cadabra. He's a math tutor who actually talks — and he's about to become your favorite way to do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lesson works. Mr. Cadabra explains each step out loud while the whiteboard draws it, and when it's your turn, you just type your answer. The board never runs ahead of you — it waits for YOUR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square root or an exponent? Tap the Math Keyboard and every symbol is right there. And if you're ever unsure how something works, just ask Mr. Cadabra — he knows every button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fun part: everything you do earns something. Master a unit and its merit badge goes in your trophy case. Keep a streak alive, put in real minutes, bounce back from a tough check — there's a medal for every one of them. Nothing here is a participation trophy. You earn it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dashboard shows your whole journey through the course. Units turn gold as you master them, your streak grows every day you show up, and there's always a 'next up' so you know exactly what to 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ready to earn your first badge? Try a lesson right now at mrcadabra.com. Mr. Cadabra is waiting, and he's got all the patience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mytutor/gamma/gra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40080" y="1234440"/>
            <a:ext cx="7863840" cy="365760"/>
          </a:xfrm>
          <a:prstGeom prst="rect">
            <a:avLst/>
          </a:prstGeom>
          <a:noFill/>
          <a:ln/>
        </p:spPr>
        <p:txBody>
          <a:bodyPr wrap="square" rtlCol="0" anchor="ctr"/>
          <a:lstStyle/>
          <a:p>
            <a:pPr indent="0" marL="0">
              <a:buNone/>
            </a:pPr>
            <a:r>
              <a:rPr lang="en-US" sz="1500" b="1" spc="300" kern="0" dirty="0">
                <a:solidFill>
                  <a:srgbClr val="E8FFFC"/>
                </a:solidFill>
                <a:latin typeface="Calibri" pitchFamily="34" charset="0"/>
                <a:ea typeface="Calibri" pitchFamily="34" charset="-122"/>
                <a:cs typeface="Calibri" pitchFamily="34" charset="-120"/>
              </a:rPr>
              <a:t>FOR STUDENTS</a:t>
            </a:r>
            <a:endParaRPr lang="en-US" sz="1500" dirty="0"/>
          </a:p>
        </p:txBody>
      </p:sp>
      <p:sp>
        <p:nvSpPr>
          <p:cNvPr id="4" name="Text 1"/>
          <p:cNvSpPr/>
          <p:nvPr/>
        </p:nvSpPr>
        <p:spPr>
          <a:xfrm>
            <a:off x="640080" y="1645920"/>
            <a:ext cx="7863840" cy="15544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Meet Mr. Cadabra</a:t>
            </a:r>
            <a:endParaRPr lang="en-US" sz="4000" dirty="0"/>
          </a:p>
        </p:txBody>
      </p:sp>
      <p:sp>
        <p:nvSpPr>
          <p:cNvPr id="5" name="Text 2"/>
          <p:cNvSpPr/>
          <p:nvPr/>
        </p:nvSpPr>
        <p:spPr>
          <a:xfrm>
            <a:off x="640080" y="3200400"/>
            <a:ext cx="7315200" cy="731520"/>
          </a:xfrm>
          <a:prstGeom prst="rect">
            <a:avLst/>
          </a:prstGeom>
          <a:noFill/>
          <a:ln/>
        </p:spPr>
        <p:txBody>
          <a:bodyPr wrap="square" rtlCol="0" anchor="ctr"/>
          <a:lstStyle/>
          <a:p>
            <a:pPr indent="0" marL="0">
              <a:buNone/>
            </a:pPr>
            <a:r>
              <a:rPr lang="en-US" sz="1700" dirty="0">
                <a:solidFill>
                  <a:srgbClr val="F0EDFF"/>
                </a:solidFill>
                <a:latin typeface="Calibri" pitchFamily="34" charset="0"/>
                <a:ea typeface="Calibri" pitchFamily="34" charset="-122"/>
                <a:cs typeface="Calibri" pitchFamily="34" charset="-120"/>
              </a:rPr>
              <a:t>The math tutor who talks you through it — one friendly step at a time.</a:t>
            </a:r>
            <a:endParaRPr lang="en-US" sz="1700" dirty="0"/>
          </a:p>
        </p:txBody>
      </p:sp>
      <p:sp>
        <p:nvSpPr>
          <p:cNvPr id="6" name="Text 3"/>
          <p:cNvSpPr/>
          <p:nvPr/>
        </p:nvSpPr>
        <p:spPr>
          <a:xfrm>
            <a:off x="640080" y="4480560"/>
            <a:ext cx="7863840" cy="365760"/>
          </a:xfrm>
          <a:prstGeom prst="rect">
            <a:avLst/>
          </a:prstGeom>
          <a:noFill/>
          <a:ln/>
        </p:spPr>
        <p:txBody>
          <a:bodyPr wrap="square" rtlCol="0" anchor="ctr"/>
          <a:lstStyle/>
          <a:p>
            <a:pPr indent="0" marL="0">
              <a:buNone/>
            </a:pPr>
            <a:r>
              <a:rPr lang="en-US" sz="1200" dirty="0">
                <a:solidFill>
                  <a:srgbClr val="D8F5F2"/>
                </a:solidFill>
                <a:latin typeface="Calibri" pitchFamily="34" charset="0"/>
                <a:ea typeface="Calibri" pitchFamily="34" charset="-122"/>
                <a:cs typeface="Calibri" pitchFamily="34" charset="-120"/>
              </a:rPr>
              <a:t>MyTutor · with Mr. Cadabra · mrcadabra.com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mytutor/static/shots/lesson.png">    </p:cNvPr>
          <p:cNvPicPr>
            <a:picLocks noChangeAspect="1"/>
          </p:cNvPicPr>
          <p:nvPr/>
        </p:nvPicPr>
        <p:blipFill>
          <a:blip r:embed="rId1"/>
          <a:stretch>
            <a:fillRect/>
          </a:stretch>
        </p:blipFill>
        <p:spPr>
          <a:xfrm>
            <a:off x="4206240" y="1052916"/>
            <a:ext cx="4480560" cy="3037668"/>
          </a:xfrm>
          <a:prstGeom prst="rect">
            <a:avLst/>
          </a:prstGeom>
          <a:effectLst>
            <a:outerShdw sx="100000" sy="100000" kx="0" ky="0" algn="bl" rotWithShape="0" blurRad="177800" dist="63500" dir="5400000">
              <a:srgbClr val="3C2878">
                <a:alpha val="28000"/>
              </a:srgbClr>
            </a:outerShdw>
          </a:effectLst>
        </p:spPr>
      </p:pic>
      <p:sp>
        <p:nvSpPr>
          <p:cNvPr id="3" name="Text 0"/>
          <p:cNvSpPr/>
          <p:nvPr/>
        </p:nvSpPr>
        <p:spPr>
          <a:xfrm>
            <a:off x="502920" y="1051560"/>
            <a:ext cx="3703320" cy="1280160"/>
          </a:xfrm>
          <a:prstGeom prst="rect">
            <a:avLst/>
          </a:prstGeom>
          <a:noFill/>
          <a:ln/>
        </p:spPr>
        <p:txBody>
          <a:bodyPr wrap="square" rtlCol="0" anchor="ctr"/>
          <a:lstStyle/>
          <a:p>
            <a:pPr indent="0" marL="0">
              <a:buNone/>
            </a:pPr>
            <a:r>
              <a:rPr lang="en-US" sz="2700" b="1" dirty="0">
                <a:solidFill>
                  <a:srgbClr val="20233A"/>
                </a:solidFill>
                <a:latin typeface="Calibri" pitchFamily="34" charset="0"/>
                <a:ea typeface="Calibri" pitchFamily="34" charset="-122"/>
                <a:cs typeface="Calibri" pitchFamily="34" charset="-120"/>
              </a:rPr>
              <a:t>He talks. The board draws. You type.</a:t>
            </a:r>
            <a:endParaRPr lang="en-US" sz="2700" dirty="0"/>
          </a:p>
        </p:txBody>
      </p:sp>
      <p:sp>
        <p:nvSpPr>
          <p:cNvPr id="4" name="Text 1"/>
          <p:cNvSpPr/>
          <p:nvPr/>
        </p:nvSpPr>
        <p:spPr>
          <a:xfrm>
            <a:off x="502920" y="2377440"/>
            <a:ext cx="3657600" cy="2011680"/>
          </a:xfrm>
          <a:prstGeom prst="rect">
            <a:avLst/>
          </a:prstGeom>
          <a:noFill/>
          <a:ln/>
        </p:spPr>
        <p:txBody>
          <a:bodyPr wrap="square" rtlCol="0" anchor="ctr"/>
          <a:lstStyle/>
          <a:p>
            <a:pPr indent="0" marL="0">
              <a:lnSpc>
                <a:spcPct val="115000"/>
              </a:lnSpc>
              <a:buNone/>
            </a:pPr>
            <a:r>
              <a:rPr lang="en-US" sz="1450" dirty="0">
                <a:solidFill>
                  <a:srgbClr val="5B6079"/>
                </a:solidFill>
                <a:latin typeface="Calibri" pitchFamily="34" charset="0"/>
                <a:ea typeface="Calibri" pitchFamily="34" charset="-122"/>
                <a:cs typeface="Calibri" pitchFamily="34" charset="-120"/>
              </a:rPr>
              <a:t>Turn your sound on — he explains every step out loud while the whiteboard draws it. When it's your turn, type your answer and press Enter. The board never jumps ahead of you.</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mytutor/static/shots/keyboard.png">    </p:cNvPr>
          <p:cNvPicPr>
            <a:picLocks noChangeAspect="1"/>
          </p:cNvPicPr>
          <p:nvPr/>
        </p:nvPicPr>
        <p:blipFill>
          <a:blip r:embed="rId1"/>
          <a:stretch>
            <a:fillRect/>
          </a:stretch>
        </p:blipFill>
        <p:spPr>
          <a:xfrm>
            <a:off x="457200" y="1052916"/>
            <a:ext cx="4480560" cy="3037668"/>
          </a:xfrm>
          <a:prstGeom prst="rect">
            <a:avLst/>
          </a:prstGeom>
          <a:effectLst>
            <a:outerShdw sx="100000" sy="100000" kx="0" ky="0" algn="bl" rotWithShape="0" blurRad="177800" dist="63500" dir="5400000">
              <a:srgbClr val="3C2878">
                <a:alpha val="28000"/>
              </a:srgbClr>
            </a:outerShdw>
          </a:effectLst>
        </p:spPr>
      </p:pic>
      <p:sp>
        <p:nvSpPr>
          <p:cNvPr id="3" name="Text 0"/>
          <p:cNvSpPr/>
          <p:nvPr/>
        </p:nvSpPr>
        <p:spPr>
          <a:xfrm>
            <a:off x="4892040" y="1051560"/>
            <a:ext cx="3703320" cy="1280160"/>
          </a:xfrm>
          <a:prstGeom prst="rect">
            <a:avLst/>
          </a:prstGeom>
          <a:noFill/>
          <a:ln/>
        </p:spPr>
        <p:txBody>
          <a:bodyPr wrap="square" rtlCol="0" anchor="ctr"/>
          <a:lstStyle/>
          <a:p>
            <a:pPr indent="0" marL="0">
              <a:buNone/>
            </a:pPr>
            <a:r>
              <a:rPr lang="en-US" sz="2700" b="1" dirty="0">
                <a:solidFill>
                  <a:srgbClr val="20233A"/>
                </a:solidFill>
                <a:latin typeface="Calibri" pitchFamily="34" charset="0"/>
                <a:ea typeface="Calibri" pitchFamily="34" charset="-122"/>
                <a:cs typeface="Calibri" pitchFamily="34" charset="-120"/>
              </a:rPr>
              <a:t>Real math symbols, no hunting.</a:t>
            </a:r>
            <a:endParaRPr lang="en-US" sz="2700" dirty="0"/>
          </a:p>
        </p:txBody>
      </p:sp>
      <p:sp>
        <p:nvSpPr>
          <p:cNvPr id="4" name="Text 1"/>
          <p:cNvSpPr/>
          <p:nvPr/>
        </p:nvSpPr>
        <p:spPr>
          <a:xfrm>
            <a:off x="4892040" y="2377440"/>
            <a:ext cx="3657600" cy="2011680"/>
          </a:xfrm>
          <a:prstGeom prst="rect">
            <a:avLst/>
          </a:prstGeom>
          <a:noFill/>
          <a:ln/>
        </p:spPr>
        <p:txBody>
          <a:bodyPr wrap="square" rtlCol="0" anchor="ctr"/>
          <a:lstStyle/>
          <a:p>
            <a:pPr indent="0" marL="0">
              <a:lnSpc>
                <a:spcPct val="115000"/>
              </a:lnSpc>
              <a:buNone/>
            </a:pPr>
            <a:r>
              <a:rPr lang="en-US" sz="1450" dirty="0">
                <a:solidFill>
                  <a:srgbClr val="5B6079"/>
                </a:solidFill>
                <a:latin typeface="Calibri" pitchFamily="34" charset="0"/>
                <a:ea typeface="Calibri" pitchFamily="34" charset="-122"/>
                <a:cs typeface="Calibri" pitchFamily="34" charset="-120"/>
              </a:rPr>
              <a:t>Tap 🧮 Math Keyboard for √, x², fractions and more. For powers: type the base, tap xⁿ, then the power — 2, xⁿ, 3 makes 2³. Stuck on any button? Just ask him.</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8138160" cy="685800"/>
          </a:xfrm>
          <a:prstGeom prst="rect">
            <a:avLst/>
          </a:prstGeom>
          <a:noFill/>
          <a:ln/>
        </p:spPr>
        <p:txBody>
          <a:bodyPr wrap="square" rtlCol="0" anchor="ctr"/>
          <a:lstStyle/>
          <a:p>
            <a:pPr indent="0" marL="0">
              <a:buNone/>
            </a:pPr>
            <a:r>
              <a:rPr lang="en-US" sz="2700" b="1" dirty="0">
                <a:solidFill>
                  <a:srgbClr val="20233A"/>
                </a:solidFill>
                <a:latin typeface="Calibri" pitchFamily="34" charset="0"/>
                <a:ea typeface="Calibri" pitchFamily="34" charset="-122"/>
                <a:cs typeface="Calibri" pitchFamily="34" charset="-120"/>
              </a:rPr>
              <a:t>Earn it: badges, medals, and trophies.</a:t>
            </a:r>
            <a:endParaRPr lang="en-US" sz="2700" dirty="0"/>
          </a:p>
        </p:txBody>
      </p:sp>
      <p:sp>
        <p:nvSpPr>
          <p:cNvPr id="3" name="Text 1"/>
          <p:cNvSpPr/>
          <p:nvPr/>
        </p:nvSpPr>
        <p:spPr>
          <a:xfrm>
            <a:off x="502920" y="1188720"/>
            <a:ext cx="8138160" cy="822960"/>
          </a:xfrm>
          <a:prstGeom prst="rect">
            <a:avLst/>
          </a:prstGeom>
          <a:noFill/>
          <a:ln/>
        </p:spPr>
        <p:txBody>
          <a:bodyPr wrap="square" rtlCol="0" anchor="ctr"/>
          <a:lstStyle/>
          <a:p>
            <a:pPr indent="0" marL="0">
              <a:buNone/>
            </a:pPr>
            <a:r>
              <a:rPr lang="en-US" sz="1450" dirty="0">
                <a:solidFill>
                  <a:srgbClr val="5B6079"/>
                </a:solidFill>
                <a:latin typeface="Calibri" pitchFamily="34" charset="0"/>
                <a:ea typeface="Calibri" pitchFamily="34" charset="-122"/>
                <a:cs typeface="Calibri" pitchFamily="34" charset="-120"/>
              </a:rPr>
              <a:t>Master a unit and its merit badge is yours — nine per course, and a trophy when you finish all nine. Medals reward the work itself: streaks, real minutes, comebacks.</a:t>
            </a:r>
            <a:endParaRPr lang="en-US" sz="1450" dirty="0"/>
          </a:p>
        </p:txBody>
      </p:sp>
      <p:pic>
        <p:nvPicPr>
          <p:cNvPr id="4" name="Image 0" descr="/home/claude/mytutor/gamma/trophycase.png">    </p:cNvPr>
          <p:cNvPicPr>
            <a:picLocks noChangeAspect="1"/>
          </p:cNvPicPr>
          <p:nvPr/>
        </p:nvPicPr>
        <p:blipFill>
          <a:blip r:embed="rId1"/>
          <a:stretch>
            <a:fillRect/>
          </a:stretch>
        </p:blipFill>
        <p:spPr>
          <a:xfrm>
            <a:off x="457200" y="2240280"/>
            <a:ext cx="8229600" cy="2078182"/>
          </a:xfrm>
          <a:prstGeom prst="rect">
            <a:avLst/>
          </a:prstGeom>
          <a:effectLst>
            <a:outerShdw sx="100000" sy="100000" kx="0" ky="0" algn="bl" rotWithShape="0" blurRad="177800" dist="63500" dir="5400000">
              <a:srgbClr val="3C2878">
                <a:alpha val="28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mytutor/static/shots/dashboard.png">    </p:cNvPr>
          <p:cNvPicPr>
            <a:picLocks noChangeAspect="1"/>
          </p:cNvPicPr>
          <p:nvPr/>
        </p:nvPicPr>
        <p:blipFill>
          <a:blip r:embed="rId1"/>
          <a:stretch>
            <a:fillRect/>
          </a:stretch>
        </p:blipFill>
        <p:spPr>
          <a:xfrm>
            <a:off x="4206240" y="938893"/>
            <a:ext cx="4480560" cy="3265714"/>
          </a:xfrm>
          <a:prstGeom prst="rect">
            <a:avLst/>
          </a:prstGeom>
          <a:effectLst>
            <a:outerShdw sx="100000" sy="100000" kx="0" ky="0" algn="bl" rotWithShape="0" blurRad="177800" dist="63500" dir="5400000">
              <a:srgbClr val="3C2878">
                <a:alpha val="28000"/>
              </a:srgbClr>
            </a:outerShdw>
          </a:effectLst>
        </p:spPr>
      </p:pic>
      <p:sp>
        <p:nvSpPr>
          <p:cNvPr id="3" name="Text 0"/>
          <p:cNvSpPr/>
          <p:nvPr/>
        </p:nvSpPr>
        <p:spPr>
          <a:xfrm>
            <a:off x="502920" y="1051560"/>
            <a:ext cx="3703320" cy="1280160"/>
          </a:xfrm>
          <a:prstGeom prst="rect">
            <a:avLst/>
          </a:prstGeom>
          <a:noFill/>
          <a:ln/>
        </p:spPr>
        <p:txBody>
          <a:bodyPr wrap="square" rtlCol="0" anchor="ctr"/>
          <a:lstStyle/>
          <a:p>
            <a:pPr indent="0" marL="0">
              <a:buNone/>
            </a:pPr>
            <a:r>
              <a:rPr lang="en-US" sz="2700" b="1" dirty="0">
                <a:solidFill>
                  <a:srgbClr val="20233A"/>
                </a:solidFill>
                <a:latin typeface="Calibri" pitchFamily="34" charset="0"/>
                <a:ea typeface="Calibri" pitchFamily="34" charset="-122"/>
                <a:cs typeface="Calibri" pitchFamily="34" charset="-120"/>
              </a:rPr>
              <a:t>Watch your journey fill in.</a:t>
            </a:r>
            <a:endParaRPr lang="en-US" sz="2700" dirty="0"/>
          </a:p>
        </p:txBody>
      </p:sp>
      <p:sp>
        <p:nvSpPr>
          <p:cNvPr id="4" name="Text 1"/>
          <p:cNvSpPr/>
          <p:nvPr/>
        </p:nvSpPr>
        <p:spPr>
          <a:xfrm>
            <a:off x="502920" y="2377440"/>
            <a:ext cx="3657600" cy="2011680"/>
          </a:xfrm>
          <a:prstGeom prst="rect">
            <a:avLst/>
          </a:prstGeom>
          <a:noFill/>
          <a:ln/>
        </p:spPr>
        <p:txBody>
          <a:bodyPr wrap="square" rtlCol="0" anchor="ctr"/>
          <a:lstStyle/>
          <a:p>
            <a:pPr indent="0" marL="0">
              <a:lnSpc>
                <a:spcPct val="115000"/>
              </a:lnSpc>
              <a:buNone/>
            </a:pPr>
            <a:r>
              <a:rPr lang="en-US" sz="1450" dirty="0">
                <a:solidFill>
                  <a:srgbClr val="5B6079"/>
                </a:solidFill>
                <a:latin typeface="Calibri" pitchFamily="34" charset="0"/>
                <a:ea typeface="Calibri" pitchFamily="34" charset="-122"/>
                <a:cs typeface="Calibri" pitchFamily="34" charset="-120"/>
              </a:rPr>
              <a:t>Your dashboard shows your whole path — units turn gold with a star when you master them. Keep the 🔥 streak alive and watch your accuracy climb.</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mytutor/gamma/gra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40080" y="1554480"/>
            <a:ext cx="7863840" cy="118872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Ready to earn your first badge?</a:t>
            </a:r>
            <a:endParaRPr lang="en-US" sz="3600" dirty="0"/>
          </a:p>
        </p:txBody>
      </p:sp>
      <p:sp>
        <p:nvSpPr>
          <p:cNvPr id="4" name="Text 1"/>
          <p:cNvSpPr/>
          <p:nvPr/>
        </p:nvSpPr>
        <p:spPr>
          <a:xfrm>
            <a:off x="1097280" y="2788920"/>
            <a:ext cx="6949440" cy="731520"/>
          </a:xfrm>
          <a:prstGeom prst="rect">
            <a:avLst/>
          </a:prstGeom>
          <a:noFill/>
          <a:ln/>
        </p:spPr>
        <p:txBody>
          <a:bodyPr wrap="square" rtlCol="0" anchor="ctr"/>
          <a:lstStyle/>
          <a:p>
            <a:pPr algn="ctr" indent="0" marL="0">
              <a:buNone/>
            </a:pPr>
            <a:r>
              <a:rPr lang="en-US" sz="1600" dirty="0">
                <a:solidFill>
                  <a:srgbClr val="F0EDFF"/>
                </a:solidFill>
                <a:latin typeface="Calibri" pitchFamily="34" charset="0"/>
                <a:ea typeface="Calibri" pitchFamily="34" charset="-122"/>
                <a:cs typeface="Calibri" pitchFamily="34" charset="-120"/>
              </a:rPr>
              <a:t>Try a lesson right now — no sign-up needed.</a:t>
            </a:r>
            <a:endParaRPr lang="en-US" sz="1600" dirty="0"/>
          </a:p>
        </p:txBody>
      </p:sp>
      <p:sp>
        <p:nvSpPr>
          <p:cNvPr id="5" name="Text 2"/>
          <p:cNvSpPr/>
          <p:nvPr/>
        </p:nvSpPr>
        <p:spPr>
          <a:xfrm>
            <a:off x="1097280" y="3657600"/>
            <a:ext cx="694944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mrcadabra.com/demo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2026-07-31T01:05:45Z</dcterms:created>
  <dcterms:modified xsi:type="dcterms:W3CDTF">2026-07-31T01:05:45Z</dcterms:modified>
</cp:coreProperties>
</file>